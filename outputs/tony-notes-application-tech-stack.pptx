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f52056d3473428c" /><Relationship Type="http://schemas.openxmlformats.org/officeDocument/2006/relationships/extended-properties" Target="/docProps/app.xml" Id="Rf7f5a434326848e2" /><Relationship Type="http://schemas.openxmlformats.org/officeDocument/2006/relationships/officeDocument" Target="/ppt/presentation.xml" Id="Re9af5be285724ee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3c8f0deeeca4d7c"/>
  </p:sldMasterIdLst>
  <p:notesMasterIdLst>
    <p:notesMasterId xmlns:r="http://schemas.openxmlformats.org/officeDocument/2006/relationships" r:id="R79cc87c59530403b"/>
  </p:notesMasterIdLst>
  <p:sldIdLst>
    <p:sldId xmlns:r="http://schemas.openxmlformats.org/officeDocument/2006/relationships" id="256" r:id="R4783f3a292a2423d"/>
    <p:sldId xmlns:r="http://schemas.openxmlformats.org/officeDocument/2006/relationships" id="257" r:id="Rd249eba7d9fa4ed9"/>
    <p:sldId xmlns:r="http://schemas.openxmlformats.org/officeDocument/2006/relationships" id="258" r:id="Ra277f6520a4e42de"/>
    <p:sldId xmlns:r="http://schemas.openxmlformats.org/officeDocument/2006/relationships" id="259" r:id="R5612c000b108430a"/>
    <p:sldId xmlns:r="http://schemas.openxmlformats.org/officeDocument/2006/relationships" id="260" r:id="R71ec7aa4aaa846c0"/>
    <p:sldId xmlns:r="http://schemas.openxmlformats.org/officeDocument/2006/relationships" id="261" r:id="R3d4beb7d185842e2"/>
    <p:sldId xmlns:r="http://schemas.openxmlformats.org/officeDocument/2006/relationships" id="262" r:id="Rf5b1c5a989fd47c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9578afb5d774143" /><Relationship Type="http://schemas.openxmlformats.org/officeDocument/2006/relationships/slideMaster" Target="/ppt/slideMasters/slideMaster1.xml" Id="R03c8f0deeeca4d7c" /><Relationship Type="http://schemas.openxmlformats.org/officeDocument/2006/relationships/notesMaster" Target="/ppt/notesMasters/notesMaster1.xml" Id="R79cc87c59530403b" /><Relationship Type="http://schemas.openxmlformats.org/officeDocument/2006/relationships/presProps" Target="/ppt/presProps.xml" Id="R8a852092cbce459b" /><Relationship Type="http://schemas.openxmlformats.org/officeDocument/2006/relationships/tableStyles" Target="/ppt/tableStyles.xml" Id="R5a786d1000ff4f09" /><Relationship Type="http://schemas.openxmlformats.org/officeDocument/2006/relationships/slide" Target="/ppt/slides/slide1.xml" Id="R4783f3a292a2423d" /><Relationship Type="http://schemas.openxmlformats.org/officeDocument/2006/relationships/slide" Target="/ppt/slides/slide2.xml" Id="Rd249eba7d9fa4ed9" /><Relationship Type="http://schemas.openxmlformats.org/officeDocument/2006/relationships/slide" Target="/ppt/slides/slide3.xml" Id="Ra277f6520a4e42de" /><Relationship Type="http://schemas.openxmlformats.org/officeDocument/2006/relationships/slide" Target="/ppt/slides/slide4.xml" Id="R5612c000b108430a" /><Relationship Type="http://schemas.openxmlformats.org/officeDocument/2006/relationships/slide" Target="/ppt/slides/slide5.xml" Id="R71ec7aa4aaa846c0" /><Relationship Type="http://schemas.openxmlformats.org/officeDocument/2006/relationships/slide" Target="/ppt/slides/slide6.xml" Id="R3d4beb7d185842e2" /><Relationship Type="http://schemas.openxmlformats.org/officeDocument/2006/relationships/slide" Target="/ppt/slides/slide7.xml" Id="Rf5b1c5a989fd47c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d9c84f2c4a947f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d10ff45072c40b5" /><Relationship Type="http://schemas.openxmlformats.org/officeDocument/2006/relationships/notesMaster" Target="/ppt/notesMasters/notesMaster1.xml" Id="R0add3f8cc9734bb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d634eabf744440c" /><Relationship Type="http://schemas.openxmlformats.org/officeDocument/2006/relationships/notesMaster" Target="/ppt/notesMasters/notesMaster1.xml" Id="Rec4d0c6d71314aa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7c650257f1a4f2c" /><Relationship Type="http://schemas.openxmlformats.org/officeDocument/2006/relationships/notesMaster" Target="/ppt/notesMasters/notesMaster1.xml" Id="Rb0e5c5b43f1049f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7be800f93804a3c" /><Relationship Type="http://schemas.openxmlformats.org/officeDocument/2006/relationships/notesMaster" Target="/ppt/notesMasters/notesMaster1.xml" Id="R8f483963593f41e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f700e49573b433d" /><Relationship Type="http://schemas.openxmlformats.org/officeDocument/2006/relationships/notesMaster" Target="/ppt/notesMasters/notesMaster1.xml" Id="R87a18e09af91464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f8a6f9edaeb41dd" /><Relationship Type="http://schemas.openxmlformats.org/officeDocument/2006/relationships/notesMaster" Target="/ppt/notesMasters/notesMaster1.xml" Id="R2b55bbb8b881459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17f6719508f4266" /><Relationship Type="http://schemas.openxmlformats.org/officeDocument/2006/relationships/notesMaster" Target="/ppt/notesMasters/notesMaster1.xml" Id="Rf2b630fa65104ae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95b064e930417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d2af407a61e422e" /><Relationship Type="http://schemas.openxmlformats.org/officeDocument/2006/relationships/slideLayout" Target="/ppt/slideLayouts/slideLayout1.xml" Id="Rdb312336f6bb429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b312336f6bb429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577a3ac97b4d38" /><Relationship Type="http://schemas.openxmlformats.org/officeDocument/2006/relationships/notesSlide" Target="/ppt/notesSlides/notesSlide1.xml" Id="R8f88ec39e4604da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332e016dc84149" /><Relationship Type="http://schemas.openxmlformats.org/officeDocument/2006/relationships/notesSlide" Target="/ppt/notesSlides/notesSlide2.xml" Id="R2700b109c9904df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88eb80b5d24cf7" /><Relationship Type="http://schemas.openxmlformats.org/officeDocument/2006/relationships/notesSlide" Target="/ppt/notesSlides/notesSlide3.xml" Id="R70cc70e9c9d640c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fb60e9f80f4a59" /><Relationship Type="http://schemas.openxmlformats.org/officeDocument/2006/relationships/notesSlide" Target="/ppt/notesSlides/notesSlide4.xml" Id="R3ac34ce9084d4f4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56403186044038" /><Relationship Type="http://schemas.openxmlformats.org/officeDocument/2006/relationships/notesSlide" Target="/ppt/notesSlides/notesSlide5.xml" Id="R7a648f351077466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099e0ccc39488e" /><Relationship Type="http://schemas.openxmlformats.org/officeDocument/2006/relationships/notesSlide" Target="/ppt/notesSlides/notesSlide6.xml" Id="R642fbde59d4b44c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afb03bd1fa4be2" /><Relationship Type="http://schemas.openxmlformats.org/officeDocument/2006/relationships/notesSlide" Target="/ppt/notesSlides/notesSlide7.xml" Id="R0797897229de447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EA947B8B-5A1D-4E95-90CC-6A7C92EA8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080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60806A"/>
                </a:solidFill>
                <a:latin typeface="Helvetica Neue"/>
                <a:ea typeface="Helvetica Neue"/>
                <a:cs typeface="Helvetica Neue"/>
              </a:rPr>
              <a:t>PRODUCT + ENGINEERING OVERVIEW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A9D47E1C-AE9A-4AA4-B4AB-1A8054E9A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43050"/>
            <a:ext cx="666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18231C"/>
                </a:solidFill>
                <a:latin typeface="Helvetica Neue"/>
                <a:ea typeface="Helvetica Neue"/>
                <a:cs typeface="Helvetica Neue"/>
              </a:defRPr>
            </a:pPr>
            <a:r>
              <a:rPr sz="5100" b="1">
                <a:solidFill>
                  <a:srgbClr val="18231C"/>
                </a:solidFill>
                <a:latin typeface="Helvetica Neue"/>
                <a:ea typeface="Helvetica Neue"/>
                <a:cs typeface="Helvetica Neue"/>
              </a:rPr>
              <a:t>Tony Notes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838FFFD1-3C00-47D7-B103-7D4BD5D07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47950"/>
            <a:ext cx="619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438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6873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68736B"/>
                </a:solidFill>
                <a:latin typeface="Helvetica Neue"/>
                <a:ea typeface="Helvetica Neue"/>
                <a:cs typeface="Helvetica Neue"/>
              </a:rPr>
              <a:t>A quiet, local-first Markdown notebook for macOS</a:t>
            </a:r>
          </a:p>
        </p:txBody>
      </p:sp>
      <p:sp>
        <p:nvSpPr>
          <p:cNvPr id="4" name="cover-rule">
            <a:extLst xmlns:a="http://schemas.openxmlformats.org/drawingml/2006/main">
              <a:ext uri="{FF2B5EF4-FFF2-40B4-BE49-F238E27FC236}">
                <a16:creationId xmlns:a16="http://schemas.microsoft.com/office/drawing/2014/main" id="{A0504849-4E22-436F-9822-91B226349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0"/>
            <a:ext cx="5334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80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over-stack">
            <a:extLst xmlns:a="http://schemas.openxmlformats.org/drawingml/2006/main">
              <a:ext uri="{FF2B5EF4-FFF2-40B4-BE49-F238E27FC236}">
                <a16:creationId xmlns:a16="http://schemas.microsoft.com/office/drawing/2014/main" id="{42E49BCE-77C4-44A4-BD2D-6A8699B73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0"/>
            <a:ext cx="590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31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8231C"/>
                </a:solidFill>
                <a:latin typeface="Helvetica Neue"/>
                <a:ea typeface="Helvetica Neue"/>
                <a:cs typeface="Helvetica Neue"/>
              </a:rPr>
              <a:t>Electron  •  React  •  TypeScript  •  Vite</a:t>
            </a:r>
          </a:p>
        </p:txBody>
      </p:sp>
      <p:sp>
        <p:nvSpPr>
          <p:cNvPr id="6" name="hero-panel">
            <a:extLst xmlns:a="http://schemas.openxmlformats.org/drawingml/2006/main">
              <a:ext uri="{FF2B5EF4-FFF2-40B4-BE49-F238E27FC236}">
                <a16:creationId xmlns:a16="http://schemas.microsoft.com/office/drawing/2014/main" id="{704A7C75-5BDD-4202-AF5B-AFAF6EDAD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90550"/>
            <a:ext cx="4171950" cy="5391150"/>
          </a:xfrm>
          <a:prstGeom xmlns:a="http://schemas.openxmlformats.org/drawingml/2006/main" prst="roundRect">
            <a:avLst>
              <a:gd name="adj" fmla="val 3653"/>
            </a:avLst>
          </a:prstGeom>
          <a:solidFill xmlns:a="http://schemas.openxmlformats.org/drawingml/2006/main">
            <a:srgbClr val="EDF4EB"/>
          </a:solidFill>
          <a:ln xmlns:a="http://schemas.openxmlformats.org/drawingml/2006/main" w="9525">
            <a:solidFill>
              <a:srgbClr val="C9D3C7"/>
            </a:solidFill>
            <a:prstDash val="solid"/>
          </a:ln>
        </p:spPr>
      </p:sp>
      <p:sp>
        <p:nvSpPr>
          <p:cNvPr id="7" name="hero-sidebar">
            <a:extLst xmlns:a="http://schemas.openxmlformats.org/drawingml/2006/main">
              <a:ext uri="{FF2B5EF4-FFF2-40B4-BE49-F238E27FC236}">
                <a16:creationId xmlns:a16="http://schemas.microsoft.com/office/drawing/2014/main" id="{61A4B3E5-E608-44BC-AE23-710963BB6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933450"/>
            <a:ext cx="1200150" cy="46672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2438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hero-brand">
            <a:extLst xmlns:a="http://schemas.openxmlformats.org/drawingml/2006/main">
              <a:ext uri="{FF2B5EF4-FFF2-40B4-BE49-F238E27FC236}">
                <a16:creationId xmlns:a16="http://schemas.microsoft.com/office/drawing/2014/main" id="{FA3C6E01-40C2-49B2-BD57-D4F421B4F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190625"/>
            <a:ext cx="8001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723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TONY</a:t>
            </a:r>
          </a:p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NOTES</a:t>
            </a:r>
          </a:p>
        </p:txBody>
      </p:sp>
      <p:sp>
        <p:nvSpPr>
          <p:cNvPr id="9" name="hero-brand-rule">
            <a:extLst xmlns:a="http://schemas.openxmlformats.org/drawingml/2006/main">
              <a:ext uri="{FF2B5EF4-FFF2-40B4-BE49-F238E27FC236}">
                <a16:creationId xmlns:a16="http://schemas.microsoft.com/office/drawing/2014/main" id="{D1E9E836-E8B2-4A7D-8D61-4E6C22A5D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028825"/>
            <a:ext cx="723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93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hero-nav">
            <a:extLst xmlns:a="http://schemas.openxmlformats.org/drawingml/2006/main">
              <a:ext uri="{FF2B5EF4-FFF2-40B4-BE49-F238E27FC236}">
                <a16:creationId xmlns:a16="http://schemas.microsoft.com/office/drawing/2014/main" id="{CAF4783E-6D09-472E-B0B7-C4A7EFEE2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305050"/>
            <a:ext cx="8191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85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9F0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E9F0E8"/>
                </a:solidFill>
                <a:latin typeface="Helvetica Neue"/>
                <a:ea typeface="Helvetica Neue"/>
                <a:cs typeface="Helvetica Neue"/>
              </a:rPr>
              <a:t>＋  New note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E9F0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E9F0E8"/>
                </a:solidFill>
                <a:latin typeface="Helvetica Neue"/>
                <a:ea typeface="Helvetica Neue"/>
                <a:cs typeface="Helvetica Neue"/>
              </a:rPr>
              <a:t>⌕  Search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E9F0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E9F0E8"/>
                </a:solidFill>
                <a:latin typeface="Helvetica Neue"/>
                <a:ea typeface="Helvetica Neue"/>
                <a:cs typeface="Helvetica Neue"/>
              </a:rPr>
              <a:t>Notes  03</a:t>
            </a:r>
          </a:p>
        </p:txBody>
      </p:sp>
      <p:sp>
        <p:nvSpPr>
          <p:cNvPr id="11" name="hero-editor">
            <a:extLst xmlns:a="http://schemas.openxmlformats.org/drawingml/2006/main">
              <a:ext uri="{FF2B5EF4-FFF2-40B4-BE49-F238E27FC236}">
                <a16:creationId xmlns:a16="http://schemas.microsoft.com/office/drawing/2014/main" id="{A4D01D5B-3F83-44DB-99BA-0C013FE81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933450"/>
            <a:ext cx="2152650" cy="4667250"/>
          </a:xfrm>
          <a:prstGeom xmlns:a="http://schemas.openxmlformats.org/drawingml/2006/main" prst="roundRect">
            <a:avLst>
              <a:gd name="adj" fmla="val 53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hero-date">
            <a:extLst xmlns:a="http://schemas.openxmlformats.org/drawingml/2006/main">
              <a:ext uri="{FF2B5EF4-FFF2-40B4-BE49-F238E27FC236}">
                <a16:creationId xmlns:a16="http://schemas.microsoft.com/office/drawing/2014/main" id="{8B097811-E075-438F-B68B-87E6698FE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2573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080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0806A"/>
                </a:solidFill>
                <a:latin typeface="Helvetica Neue"/>
                <a:ea typeface="Helvetica Neue"/>
                <a:cs typeface="Helvetica Neue"/>
              </a:rPr>
              <a:t>TUESDAY, JULY 21</a:t>
            </a:r>
          </a:p>
        </p:txBody>
      </p:sp>
      <p:sp>
        <p:nvSpPr>
          <p:cNvPr id="13" name="hero-note-title">
            <a:extLst xmlns:a="http://schemas.openxmlformats.org/drawingml/2006/main">
              <a:ext uri="{FF2B5EF4-FFF2-40B4-BE49-F238E27FC236}">
                <a16:creationId xmlns:a16="http://schemas.microsoft.com/office/drawing/2014/main" id="{95609CA2-CF4C-4D47-8F99-75704C4FA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676400"/>
            <a:ext cx="1733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23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8231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8231C"/>
                </a:solidFill>
                <a:latin typeface="Helvetica Neue"/>
                <a:ea typeface="Helvetica Neue"/>
                <a:cs typeface="Helvetica Neue"/>
              </a:rPr>
              <a:t>Welcome to Paper</a:t>
            </a:r>
          </a:p>
        </p:txBody>
      </p:sp>
      <p:sp>
        <p:nvSpPr>
          <p:cNvPr id="14" name="hero-note-body">
            <a:extLst xmlns:a="http://schemas.openxmlformats.org/drawingml/2006/main">
              <a:ext uri="{FF2B5EF4-FFF2-40B4-BE49-F238E27FC236}">
                <a16:creationId xmlns:a16="http://schemas.microsoft.com/office/drawing/2014/main" id="{A7454E8A-BF8D-44D7-8D66-E36081C6D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571750"/>
            <a:ext cx="16573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73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8736B"/>
                </a:solidFill>
                <a:latin typeface="Helvetica Neue"/>
                <a:ea typeface="Helvetica Neue"/>
                <a:cs typeface="Helvetica Neue"/>
              </a:rPr>
              <a:t>A quiet place for thoughts.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6873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8736B"/>
                </a:solidFill>
                <a:latin typeface="Helvetica Neue"/>
                <a:ea typeface="Helvetica Neue"/>
                <a:cs typeface="Helvetica Neue"/>
              </a:rPr>
              <a:t>Everything you write is saved automatically.</a:t>
            </a:r>
          </a:p>
        </p:txBody>
      </p:sp>
      <p:sp>
        <p:nvSpPr>
          <p:cNvPr id="15" name="hero-saved-bg">
            <a:extLst xmlns:a="http://schemas.openxmlformats.org/drawingml/2006/main">
              <a:ext uri="{FF2B5EF4-FFF2-40B4-BE49-F238E27FC236}">
                <a16:creationId xmlns:a16="http://schemas.microsoft.com/office/drawing/2014/main" id="{C1C1D758-3C9F-4B94-B6A2-04103B9DD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953000"/>
            <a:ext cx="13525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DF4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hero-saved">
            <a:extLst xmlns:a="http://schemas.openxmlformats.org/drawingml/2006/main">
              <a:ext uri="{FF2B5EF4-FFF2-40B4-BE49-F238E27FC236}">
                <a16:creationId xmlns:a16="http://schemas.microsoft.com/office/drawing/2014/main" id="{339F1C54-0E79-4B6F-98F2-6AEAB580F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5029200"/>
            <a:ext cx="1123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8889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438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4382A"/>
                </a:solidFill>
                <a:latin typeface="Helvetica Neue"/>
                <a:ea typeface="Helvetica Neue"/>
                <a:cs typeface="Helvetica Neue"/>
              </a:rPr>
              <a:t>●  SAVED</a:t>
            </a:r>
          </a:p>
        </p:txBody>
      </p:sp>
    </p:spTree>
    <p:extLst>
      <p:ext uri="{BB962C8B-B14F-4D97-AF65-F5344CB8AC3E}">
        <p14:creationId xmlns:p14="http://schemas.microsoft.com/office/powerpoint/2010/main" val="190120461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eyebrow-2">
            <a:extLst xmlns:a="http://schemas.openxmlformats.org/drawingml/2006/main">
              <a:ext uri="{FF2B5EF4-FFF2-40B4-BE49-F238E27FC236}">
                <a16:creationId xmlns:a16="http://schemas.microsoft.com/office/drawing/2014/main" id="{37C0441E-CC21-489A-919B-C7F715DDC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080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60806A"/>
                </a:solidFill>
                <a:latin typeface="Helvetica Neue"/>
                <a:ea typeface="Helvetica Neue"/>
                <a:cs typeface="Helvetica Neue"/>
              </a:rPr>
              <a:t>THE PRODUCT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43580021-D73C-444B-B388-06102F869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8231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18231C"/>
                </a:solidFill>
                <a:latin typeface="Helvetica Neue"/>
                <a:ea typeface="Helvetica Neue"/>
                <a:cs typeface="Helvetica Neue"/>
              </a:rPr>
              <a:t>The interface stays out of the writer’s way</a:t>
            </a:r>
          </a:p>
        </p:txBody>
      </p:sp>
      <p:sp>
        <p:nvSpPr>
          <p:cNvPr id="3" name="page-2">
            <a:extLst xmlns:a="http://schemas.openxmlformats.org/drawingml/2006/main">
              <a:ext uri="{FF2B5EF4-FFF2-40B4-BE49-F238E27FC236}">
                <a16:creationId xmlns:a16="http://schemas.microsoft.com/office/drawing/2014/main" id="{0CC9FBFE-18B6-4095-B9E5-74F60F64C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873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8736B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4" name="experience-lead">
            <a:extLst xmlns:a="http://schemas.openxmlformats.org/drawingml/2006/main">
              <a:ext uri="{FF2B5EF4-FFF2-40B4-BE49-F238E27FC236}">
                <a16:creationId xmlns:a16="http://schemas.microsoft.com/office/drawing/2014/main" id="{05A0200F-1BBA-4C62-9328-79858598F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95425"/>
            <a:ext cx="790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873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68736B"/>
                </a:solidFill>
                <a:latin typeface="Helvetica Neue"/>
                <a:ea typeface="Helvetica Neue"/>
                <a:cs typeface="Helvetica Neue"/>
              </a:rPr>
              <a:t>One workspace combines fast capture, organization, and Markdown preview without requiring an account or network connection.</a:t>
            </a:r>
          </a:p>
        </p:txBody>
      </p:sp>
      <p:sp>
        <p:nvSpPr>
          <p:cNvPr id="5" name="experience-stage">
            <a:extLst xmlns:a="http://schemas.openxmlformats.org/drawingml/2006/main">
              <a:ext uri="{FF2B5EF4-FFF2-40B4-BE49-F238E27FC236}">
                <a16:creationId xmlns:a16="http://schemas.microsoft.com/office/drawing/2014/main" id="{AD4706BA-9039-4C5F-9185-41B7CDB58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19350"/>
            <a:ext cx="11391900" cy="331470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EDF4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experience-sidebar">
            <a:extLst xmlns:a="http://schemas.openxmlformats.org/drawingml/2006/main">
              <a:ext uri="{FF2B5EF4-FFF2-40B4-BE49-F238E27FC236}">
                <a16:creationId xmlns:a16="http://schemas.microsoft.com/office/drawing/2014/main" id="{69803B13-32B1-480F-B234-99596BFF1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2819400" cy="2781300"/>
          </a:xfrm>
          <a:prstGeom xmlns:a="http://schemas.openxmlformats.org/drawingml/2006/main" prst="roundRect">
            <a:avLst>
              <a:gd name="adj" fmla="val 4110"/>
            </a:avLst>
          </a:prstGeom>
          <a:solidFill xmlns:a="http://schemas.openxmlformats.org/drawingml/2006/main">
            <a:srgbClr val="2438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experience-sidebar-title">
            <a:extLst xmlns:a="http://schemas.openxmlformats.org/drawingml/2006/main">
              <a:ext uri="{FF2B5EF4-FFF2-40B4-BE49-F238E27FC236}">
                <a16:creationId xmlns:a16="http://schemas.microsoft.com/office/drawing/2014/main" id="{01FC1271-5AEC-4B13-8CD7-260109B87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146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Notes</a:t>
            </a:r>
          </a:p>
        </p:txBody>
      </p:sp>
      <p:sp>
        <p:nvSpPr>
          <p:cNvPr id="8" name="new-note-bg">
            <a:extLst xmlns:a="http://schemas.openxmlformats.org/drawingml/2006/main">
              <a:ext uri="{FF2B5EF4-FFF2-40B4-BE49-F238E27FC236}">
                <a16:creationId xmlns:a16="http://schemas.microsoft.com/office/drawing/2014/main" id="{03B2D166-5C53-4FCF-82C9-7D7A63E89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52800"/>
            <a:ext cx="16954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6080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new-note">
            <a:extLst xmlns:a="http://schemas.openxmlformats.org/drawingml/2006/main">
              <a:ext uri="{FF2B5EF4-FFF2-40B4-BE49-F238E27FC236}">
                <a16:creationId xmlns:a16="http://schemas.microsoft.com/office/drawing/2014/main" id="{5CCB6FC2-2A50-491E-9248-8A1F1B433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429000"/>
            <a:ext cx="1466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8889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＋  NEW NOTE</a:t>
            </a:r>
          </a:p>
        </p:txBody>
      </p:sp>
      <p:sp>
        <p:nvSpPr>
          <p:cNvPr id="10" name="experience-list">
            <a:extLst xmlns:a="http://schemas.openxmlformats.org/drawingml/2006/main">
              <a:ext uri="{FF2B5EF4-FFF2-40B4-BE49-F238E27FC236}">
                <a16:creationId xmlns:a16="http://schemas.microsoft.com/office/drawing/2014/main" id="{E7DEEDA1-A7A4-4AAC-B97D-99217AA50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43350"/>
            <a:ext cx="23241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3611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EDF4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EDF4EB"/>
                </a:solidFill>
                <a:latin typeface="Helvetica Neue"/>
                <a:ea typeface="Helvetica Neue"/>
                <a:cs typeface="Helvetica Neue"/>
              </a:rPr>
              <a:t>Welcome to Paper       Today</a:t>
            </a:r>
          </a:p>
          <a:p xmlns:a="http://schemas.openxmlformats.org/drawingml/2006/main">
            <a:pPr algn="l">
              <a:defRPr sz="1125" b="0">
                <a:solidFill>
                  <a:srgbClr val="EDF4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EDF4EB"/>
                </a:solidFill>
                <a:latin typeface="Helvetica Neue"/>
                <a:ea typeface="Helvetica Neue"/>
                <a:cs typeface="Helvetica Neue"/>
              </a:rPr>
              <a:t>A quiet place for thoughts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EDF4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EDF4EB"/>
                </a:solidFill>
                <a:latin typeface="Helvetica Neue"/>
                <a:ea typeface="Helvetica Neue"/>
                <a:cs typeface="Helvetica Neue"/>
              </a:rPr>
              <a:t>Ideas for the weekend   Yesterday</a:t>
            </a:r>
          </a:p>
          <a:p xmlns:a="http://schemas.openxmlformats.org/drawingml/2006/main">
            <a:pPr algn="l">
              <a:defRPr sz="1125" b="0">
                <a:solidFill>
                  <a:srgbClr val="EDF4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EDF4EB"/>
                </a:solidFill>
                <a:latin typeface="Helvetica Neue"/>
                <a:ea typeface="Helvetica Neue"/>
                <a:cs typeface="Helvetica Neue"/>
              </a:rPr>
              <a:t>Visit the farmer’s market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EDF4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EDF4EB"/>
                </a:solidFill>
                <a:latin typeface="Helvetica Neue"/>
                <a:ea typeface="Helvetica Neue"/>
                <a:cs typeface="Helvetica Neue"/>
              </a:rPr>
              <a:t>Reading list             Jul 18</a:t>
            </a:r>
          </a:p>
          <a:p xmlns:a="http://schemas.openxmlformats.org/drawingml/2006/main">
            <a:pPr algn="l">
              <a:defRPr sz="1125" b="0">
                <a:solidFill>
                  <a:srgbClr val="EDF4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EDF4EB"/>
                </a:solidFill>
                <a:latin typeface="Helvetica Neue"/>
                <a:ea typeface="Helvetica Neue"/>
                <a:cs typeface="Helvetica Neue"/>
              </a:rPr>
              <a:t>The Creative Act…</a:t>
            </a:r>
          </a:p>
        </p:txBody>
      </p:sp>
      <p:sp>
        <p:nvSpPr>
          <p:cNvPr id="11" name="experience-editor">
            <a:extLst xmlns:a="http://schemas.openxmlformats.org/drawingml/2006/main">
              <a:ext uri="{FF2B5EF4-FFF2-40B4-BE49-F238E27FC236}">
                <a16:creationId xmlns:a16="http://schemas.microsoft.com/office/drawing/2014/main" id="{E8DC9B9D-FDCC-4A8D-B8A7-4FA066822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686050"/>
            <a:ext cx="7772400" cy="2781300"/>
          </a:xfrm>
          <a:prstGeom xmlns:a="http://schemas.openxmlformats.org/drawingml/2006/main" prst="roundRect">
            <a:avLst>
              <a:gd name="adj" fmla="val 41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experience-mode">
            <a:extLst xmlns:a="http://schemas.openxmlformats.org/drawingml/2006/main">
              <a:ext uri="{FF2B5EF4-FFF2-40B4-BE49-F238E27FC236}">
                <a16:creationId xmlns:a16="http://schemas.microsoft.com/office/drawing/2014/main" id="{9246D9CB-D86F-4B8F-A176-0FCCF5B9D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895600"/>
            <a:ext cx="1943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080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60806A"/>
                </a:solidFill>
                <a:latin typeface="Helvetica Neue"/>
                <a:ea typeface="Helvetica Neue"/>
                <a:cs typeface="Helvetica Neue"/>
              </a:rPr>
              <a:t>EDIT     PREVIEW</a:t>
            </a:r>
          </a:p>
        </p:txBody>
      </p:sp>
      <p:sp>
        <p:nvSpPr>
          <p:cNvPr id="13" name="experience-date">
            <a:extLst xmlns:a="http://schemas.openxmlformats.org/drawingml/2006/main">
              <a:ext uri="{FF2B5EF4-FFF2-40B4-BE49-F238E27FC236}">
                <a16:creationId xmlns:a16="http://schemas.microsoft.com/office/drawing/2014/main" id="{B7C2048B-F366-4977-A680-DF643A0AA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99085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080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60806A"/>
                </a:solidFill>
                <a:latin typeface="Helvetica Neue"/>
                <a:ea typeface="Helvetica Neue"/>
                <a:cs typeface="Helvetica Neue"/>
              </a:rPr>
              <a:t>TUESDAY, JULY 21, 2026</a:t>
            </a:r>
          </a:p>
        </p:txBody>
      </p:sp>
      <p:sp>
        <p:nvSpPr>
          <p:cNvPr id="14" name="experience-title">
            <a:extLst xmlns:a="http://schemas.openxmlformats.org/drawingml/2006/main">
              <a:ext uri="{FF2B5EF4-FFF2-40B4-BE49-F238E27FC236}">
                <a16:creationId xmlns:a16="http://schemas.microsoft.com/office/drawing/2014/main" id="{13AAA81F-8678-4934-8751-EBBC86819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39090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231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8231C"/>
                </a:solidFill>
                <a:latin typeface="Helvetica Neue"/>
                <a:ea typeface="Helvetica Neue"/>
                <a:cs typeface="Helvetica Neue"/>
              </a:rPr>
              <a:t>Welcome to Paper</a:t>
            </a:r>
          </a:p>
        </p:txBody>
      </p:sp>
      <p:sp>
        <p:nvSpPr>
          <p:cNvPr id="15" name="experience-body">
            <a:extLst xmlns:a="http://schemas.openxmlformats.org/drawingml/2006/main">
              <a:ext uri="{FF2B5EF4-FFF2-40B4-BE49-F238E27FC236}">
                <a16:creationId xmlns:a16="http://schemas.microsoft.com/office/drawing/2014/main" id="{CA477F56-310E-4037-927D-BA05F495B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038600"/>
            <a:ext cx="59817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73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8736B"/>
                </a:solidFill>
                <a:latin typeface="Helvetica Neue"/>
                <a:ea typeface="Helvetica Neue"/>
                <a:cs typeface="Helvetica Neue"/>
              </a:rPr>
              <a:t>A quiet place for thoughts.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6873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8736B"/>
                </a:solidFill>
                <a:latin typeface="Helvetica Neue"/>
                <a:ea typeface="Helvetica Neue"/>
                <a:cs typeface="Helvetica Neue"/>
              </a:rPr>
              <a:t>Everything you write is saved automatically in this app.</a:t>
            </a:r>
          </a:p>
          <a:p xmlns:a="http://schemas.openxmlformats.org/drawingml/2006/main">
            <a:pPr algn="l">
              <a:defRPr sz="1350" b="0">
                <a:solidFill>
                  <a:srgbClr val="6873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8736B"/>
                </a:solidFill>
                <a:latin typeface="Helvetica Neue"/>
                <a:ea typeface="Helvetica Neue"/>
                <a:cs typeface="Helvetica Neue"/>
              </a:rPr>
              <a:t>Create a new note, search your ideas, or simply begin typing.</a:t>
            </a:r>
          </a:p>
        </p:txBody>
      </p:sp>
      <p:sp>
        <p:nvSpPr>
          <p:cNvPr id="16" name="experience-save">
            <a:extLst xmlns:a="http://schemas.openxmlformats.org/drawingml/2006/main">
              <a:ext uri="{FF2B5EF4-FFF2-40B4-BE49-F238E27FC236}">
                <a16:creationId xmlns:a16="http://schemas.microsoft.com/office/drawing/2014/main" id="{30039838-5DF4-44BE-A8B2-8F202A727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105400"/>
            <a:ext cx="895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1905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080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60806A"/>
                </a:solidFill>
                <a:latin typeface="Helvetica Neue"/>
                <a:ea typeface="Helvetica Neue"/>
                <a:cs typeface="Helvetica Neue"/>
              </a:rPr>
              <a:t>●  Saved</a:t>
            </a:r>
          </a:p>
        </p:txBody>
      </p:sp>
    </p:spTree>
    <p:extLst>
      <p:ext uri="{BB962C8B-B14F-4D97-AF65-F5344CB8AC3E}">
        <p14:creationId xmlns:p14="http://schemas.microsoft.com/office/powerpoint/2010/main" val="60077456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eyebrow-3">
            <a:extLst xmlns:a="http://schemas.openxmlformats.org/drawingml/2006/main">
              <a:ext uri="{FF2B5EF4-FFF2-40B4-BE49-F238E27FC236}">
                <a16:creationId xmlns:a16="http://schemas.microsoft.com/office/drawing/2014/main" id="{E43681D2-980B-4E6D-8C3B-7AA0A7DC5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080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60806A"/>
                </a:solidFill>
                <a:latin typeface="Helvetica Neue"/>
                <a:ea typeface="Helvetica Neue"/>
                <a:cs typeface="Helvetica Neue"/>
              </a:rPr>
              <a:t>CORE WORKFLOW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683660E4-76FC-4168-8A65-E7CF6B157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8231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18231C"/>
                </a:solidFill>
                <a:latin typeface="Helvetica Neue"/>
                <a:ea typeface="Helvetica Neue"/>
                <a:cs typeface="Helvetica Neue"/>
              </a:rPr>
              <a:t>Capture, find, refine, and read in one loop</a:t>
            </a:r>
          </a:p>
        </p:txBody>
      </p:sp>
      <p:sp>
        <p:nvSpPr>
          <p:cNvPr id="3" name="page-3">
            <a:extLst xmlns:a="http://schemas.openxmlformats.org/drawingml/2006/main">
              <a:ext uri="{FF2B5EF4-FFF2-40B4-BE49-F238E27FC236}">
                <a16:creationId xmlns:a16="http://schemas.microsoft.com/office/drawing/2014/main" id="{901AB1F3-58C1-4FC5-88DE-B94DD0727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873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8736B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4" name="workflow-lead">
            <a:extLst xmlns:a="http://schemas.openxmlformats.org/drawingml/2006/main">
              <a:ext uri="{FF2B5EF4-FFF2-40B4-BE49-F238E27FC236}">
                <a16:creationId xmlns:a16="http://schemas.microsoft.com/office/drawing/2014/main" id="{CCF6ABB8-C2FB-4D59-A981-4D1FED60D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76375"/>
            <a:ext cx="876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063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873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68736B"/>
                </a:solidFill>
                <a:latin typeface="Helvetica Neue"/>
                <a:ea typeface="Helvetica Neue"/>
                <a:cs typeface="Helvetica Neue"/>
              </a:rPr>
              <a:t>The interaction model is intentionally small: every major action is visible, keyboard-accessible, and persisted automatically.</a:t>
            </a:r>
          </a:p>
        </p:txBody>
      </p:sp>
      <p:sp>
        <p:nvSpPr>
          <p:cNvPr id="5" name="step-0">
            <a:extLst xmlns:a="http://schemas.openxmlformats.org/drawingml/2006/main">
              <a:ext uri="{FF2B5EF4-FFF2-40B4-BE49-F238E27FC236}">
                <a16:creationId xmlns:a16="http://schemas.microsoft.com/office/drawing/2014/main" id="{66F8DBBA-88C4-4CCF-A7B4-A3072BB8F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38400"/>
            <a:ext cx="2562225" cy="3048000"/>
          </a:xfrm>
          <a:prstGeom xmlns:a="http://schemas.openxmlformats.org/drawingml/2006/main" prst="roundRect">
            <a:avLst>
              <a:gd name="adj" fmla="val 4461"/>
            </a:avLst>
          </a:prstGeom>
          <a:solidFill xmlns:a="http://schemas.openxmlformats.org/drawingml/2006/main">
            <a:srgbClr val="2438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tep-n-0">
            <a:extLst xmlns:a="http://schemas.openxmlformats.org/drawingml/2006/main">
              <a:ext uri="{FF2B5EF4-FFF2-40B4-BE49-F238E27FC236}">
                <a16:creationId xmlns:a16="http://schemas.microsoft.com/office/drawing/2014/main" id="{F1618A94-C9C2-4597-BFF4-EF8F35DBF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479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FC5B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AFC5B4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7" name="step-t-0">
            <a:extLst xmlns:a="http://schemas.openxmlformats.org/drawingml/2006/main">
              <a:ext uri="{FF2B5EF4-FFF2-40B4-BE49-F238E27FC236}">
                <a16:creationId xmlns:a16="http://schemas.microsoft.com/office/drawing/2014/main" id="{84BD28DE-11FC-4FF0-9A9B-6DFD6CA94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81350"/>
            <a:ext cx="2047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524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Capture</a:t>
            </a:r>
          </a:p>
        </p:txBody>
      </p:sp>
      <p:sp>
        <p:nvSpPr>
          <p:cNvPr id="8" name="step-b-0">
            <a:extLst xmlns:a="http://schemas.openxmlformats.org/drawingml/2006/main">
              <a:ext uri="{FF2B5EF4-FFF2-40B4-BE49-F238E27FC236}">
                <a16:creationId xmlns:a16="http://schemas.microsoft.com/office/drawing/2014/main" id="{6B04F761-74AB-46EF-9777-71D11993A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29050"/>
            <a:ext cx="2047875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9F0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E9F0E8"/>
                </a:solidFill>
                <a:latin typeface="Helvetica Neue"/>
                <a:ea typeface="Helvetica Neue"/>
                <a:cs typeface="Helvetica Neue"/>
              </a:rPr>
              <a:t>Create a note with ⌘N; the title is selected for immediate typing.</a:t>
            </a:r>
          </a:p>
        </p:txBody>
      </p:sp>
      <p:sp>
        <p:nvSpPr>
          <p:cNvPr id="9" name="step-1">
            <a:extLst xmlns:a="http://schemas.openxmlformats.org/drawingml/2006/main">
              <a:ext uri="{FF2B5EF4-FFF2-40B4-BE49-F238E27FC236}">
                <a16:creationId xmlns:a16="http://schemas.microsoft.com/office/drawing/2014/main" id="{2265E94D-0D65-4701-BB23-A999D0A7A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2438400"/>
            <a:ext cx="2562225" cy="3048000"/>
          </a:xfrm>
          <a:prstGeom xmlns:a="http://schemas.openxmlformats.org/drawingml/2006/main" prst="roundRect">
            <a:avLst>
              <a:gd name="adj" fmla="val 4461"/>
            </a:avLst>
          </a:prstGeom>
          <a:solidFill xmlns:a="http://schemas.openxmlformats.org/drawingml/2006/main">
            <a:srgbClr val="EDF4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tep-n-1">
            <a:extLst xmlns:a="http://schemas.openxmlformats.org/drawingml/2006/main">
              <a:ext uri="{FF2B5EF4-FFF2-40B4-BE49-F238E27FC236}">
                <a16:creationId xmlns:a16="http://schemas.microsoft.com/office/drawing/2014/main" id="{B0E68EB7-ADDB-453D-B891-3C06E0CE8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6479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080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60806A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1" name="step-t-1">
            <a:extLst xmlns:a="http://schemas.openxmlformats.org/drawingml/2006/main">
              <a:ext uri="{FF2B5EF4-FFF2-40B4-BE49-F238E27FC236}">
                <a16:creationId xmlns:a16="http://schemas.microsoft.com/office/drawing/2014/main" id="{5EFDB2F6-8984-41AD-9783-4931A938C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181350"/>
            <a:ext cx="2047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524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31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8231C"/>
                </a:solidFill>
                <a:latin typeface="Helvetica Neue"/>
                <a:ea typeface="Helvetica Neue"/>
                <a:cs typeface="Helvetica Neue"/>
              </a:rPr>
              <a:t>Find</a:t>
            </a:r>
          </a:p>
        </p:txBody>
      </p:sp>
      <p:sp>
        <p:nvSpPr>
          <p:cNvPr id="12" name="step-b-1">
            <a:extLst xmlns:a="http://schemas.openxmlformats.org/drawingml/2006/main">
              <a:ext uri="{FF2B5EF4-FFF2-40B4-BE49-F238E27FC236}">
                <a16:creationId xmlns:a16="http://schemas.microsoft.com/office/drawing/2014/main" id="{1D1A3592-28B9-49F8-AE3D-16927BB02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829050"/>
            <a:ext cx="2047875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73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8736B"/>
                </a:solidFill>
                <a:latin typeface="Helvetica Neue"/>
                <a:ea typeface="Helvetica Neue"/>
                <a:cs typeface="Helvetica Neue"/>
              </a:rPr>
              <a:t>Search title and body text with ⌘K; results update as you type.</a:t>
            </a:r>
          </a:p>
        </p:txBody>
      </p:sp>
      <p:sp>
        <p:nvSpPr>
          <p:cNvPr id="13" name="step-2">
            <a:extLst xmlns:a="http://schemas.openxmlformats.org/drawingml/2006/main">
              <a:ext uri="{FF2B5EF4-FFF2-40B4-BE49-F238E27FC236}">
                <a16:creationId xmlns:a16="http://schemas.microsoft.com/office/drawing/2014/main" id="{EDEABEAE-E58B-4732-A976-60465586F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38400"/>
            <a:ext cx="2562225" cy="3048000"/>
          </a:xfrm>
          <a:prstGeom xmlns:a="http://schemas.openxmlformats.org/drawingml/2006/main" prst="roundRect">
            <a:avLst>
              <a:gd name="adj" fmla="val 4461"/>
            </a:avLst>
          </a:prstGeom>
          <a:solidFill xmlns:a="http://schemas.openxmlformats.org/drawingml/2006/main">
            <a:srgbClr val="EDF4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tep-n-2">
            <a:extLst xmlns:a="http://schemas.openxmlformats.org/drawingml/2006/main">
              <a:ext uri="{FF2B5EF4-FFF2-40B4-BE49-F238E27FC236}">
                <a16:creationId xmlns:a16="http://schemas.microsoft.com/office/drawing/2014/main" id="{A313EEAB-B845-4A59-86C1-254F0F2F1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479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080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60806A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5" name="step-t-2">
            <a:extLst xmlns:a="http://schemas.openxmlformats.org/drawingml/2006/main">
              <a:ext uri="{FF2B5EF4-FFF2-40B4-BE49-F238E27FC236}">
                <a16:creationId xmlns:a16="http://schemas.microsoft.com/office/drawing/2014/main" id="{7B4BF29B-9AE0-45BC-A725-5DDA7B8F3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81350"/>
            <a:ext cx="2047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524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31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8231C"/>
                </a:solidFill>
                <a:latin typeface="Helvetica Neue"/>
                <a:ea typeface="Helvetica Neue"/>
                <a:cs typeface="Helvetica Neue"/>
              </a:rPr>
              <a:t>Refine</a:t>
            </a:r>
          </a:p>
        </p:txBody>
      </p:sp>
      <p:sp>
        <p:nvSpPr>
          <p:cNvPr id="16" name="step-b-2">
            <a:extLst xmlns:a="http://schemas.openxmlformats.org/drawingml/2006/main">
              <a:ext uri="{FF2B5EF4-FFF2-40B4-BE49-F238E27FC236}">
                <a16:creationId xmlns:a16="http://schemas.microsoft.com/office/drawing/2014/main" id="{12225ECC-D681-4E4A-8F63-5459E6040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829050"/>
            <a:ext cx="2047875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73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8736B"/>
                </a:solidFill>
                <a:latin typeface="Helvetica Neue"/>
                <a:ea typeface="Helvetica Neue"/>
                <a:cs typeface="Helvetica Neue"/>
              </a:rPr>
              <a:t>Rename, duplicate, delete, and switch between shallow and deep color modes.</a:t>
            </a:r>
          </a:p>
        </p:txBody>
      </p:sp>
      <p:sp>
        <p:nvSpPr>
          <p:cNvPr id="17" name="step-3">
            <a:extLst xmlns:a="http://schemas.openxmlformats.org/drawingml/2006/main">
              <a:ext uri="{FF2B5EF4-FFF2-40B4-BE49-F238E27FC236}">
                <a16:creationId xmlns:a16="http://schemas.microsoft.com/office/drawing/2014/main" id="{C2A6029F-0F0F-4ED0-B821-7E599CCB0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2438400"/>
            <a:ext cx="2562225" cy="3048000"/>
          </a:xfrm>
          <a:prstGeom xmlns:a="http://schemas.openxmlformats.org/drawingml/2006/main" prst="roundRect">
            <a:avLst>
              <a:gd name="adj" fmla="val 4461"/>
            </a:avLst>
          </a:prstGeom>
          <a:solidFill xmlns:a="http://schemas.openxmlformats.org/drawingml/2006/main">
            <a:srgbClr val="EDF4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tep-n-3">
            <a:extLst xmlns:a="http://schemas.openxmlformats.org/drawingml/2006/main">
              <a:ext uri="{FF2B5EF4-FFF2-40B4-BE49-F238E27FC236}">
                <a16:creationId xmlns:a16="http://schemas.microsoft.com/office/drawing/2014/main" id="{44CD0FE0-FDA9-41A4-92D3-B5176665F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26479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080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60806A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9" name="step-t-3">
            <a:extLst xmlns:a="http://schemas.openxmlformats.org/drawingml/2006/main">
              <a:ext uri="{FF2B5EF4-FFF2-40B4-BE49-F238E27FC236}">
                <a16:creationId xmlns:a16="http://schemas.microsoft.com/office/drawing/2014/main" id="{D90ADD69-C44F-4E6A-BB53-542E41598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3181350"/>
            <a:ext cx="2047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524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31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8231C"/>
                </a:solidFill>
                <a:latin typeface="Helvetica Neue"/>
                <a:ea typeface="Helvetica Neue"/>
                <a:cs typeface="Helvetica Neue"/>
              </a:rPr>
              <a:t>Read</a:t>
            </a:r>
          </a:p>
        </p:txBody>
      </p:sp>
      <p:sp>
        <p:nvSpPr>
          <p:cNvPr id="20" name="step-b-3">
            <a:extLst xmlns:a="http://schemas.openxmlformats.org/drawingml/2006/main">
              <a:ext uri="{FF2B5EF4-FFF2-40B4-BE49-F238E27FC236}">
                <a16:creationId xmlns:a16="http://schemas.microsoft.com/office/drawing/2014/main" id="{07865308-A497-4E5E-ABF1-EC577A80F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3829050"/>
            <a:ext cx="2047875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73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8736B"/>
                </a:solidFill>
                <a:latin typeface="Helvetica Neue"/>
                <a:ea typeface="Helvetica Neue"/>
                <a:cs typeface="Helvetica Neue"/>
              </a:rPr>
              <a:t>Toggle a GitHub-flavored Markdown preview with syntax highlighting in edit mode.</a:t>
            </a:r>
          </a:p>
        </p:txBody>
      </p:sp>
    </p:spTree>
    <p:extLst>
      <p:ext uri="{BB962C8B-B14F-4D97-AF65-F5344CB8AC3E}">
        <p14:creationId xmlns:p14="http://schemas.microsoft.com/office/powerpoint/2010/main" val="112074928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eyebrow-4">
            <a:extLst xmlns:a="http://schemas.openxmlformats.org/drawingml/2006/main">
              <a:ext uri="{FF2B5EF4-FFF2-40B4-BE49-F238E27FC236}">
                <a16:creationId xmlns:a16="http://schemas.microsoft.com/office/drawing/2014/main" id="{46ABF854-4078-403D-8FBC-DA7997BFB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080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60806A"/>
                </a:solidFill>
                <a:latin typeface="Helvetica Neue"/>
                <a:ea typeface="Helvetica Neue"/>
                <a:cs typeface="Helvetica Neue"/>
              </a:rPr>
              <a:t>ARCHITECTURE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182E6EBA-211F-4821-B6FD-28B9F3BB6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8231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18231C"/>
                </a:solidFill>
                <a:latin typeface="Helvetica Neue"/>
                <a:ea typeface="Helvetica Neue"/>
                <a:cs typeface="Helvetica Neue"/>
              </a:rPr>
              <a:t>A deliberately thin desktop shell protects a web-native core</a:t>
            </a:r>
          </a:p>
        </p:txBody>
      </p:sp>
      <p:sp>
        <p:nvSpPr>
          <p:cNvPr id="3" name="page-4">
            <a:extLst xmlns:a="http://schemas.openxmlformats.org/drawingml/2006/main">
              <a:ext uri="{FF2B5EF4-FFF2-40B4-BE49-F238E27FC236}">
                <a16:creationId xmlns:a16="http://schemas.microsoft.com/office/drawing/2014/main" id="{5C1CDE48-267B-4D9D-8326-1EFFB6CE1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873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8736B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4" name="arch-lead">
            <a:extLst xmlns:a="http://schemas.openxmlformats.org/drawingml/2006/main">
              <a:ext uri="{FF2B5EF4-FFF2-40B4-BE49-F238E27FC236}">
                <a16:creationId xmlns:a16="http://schemas.microsoft.com/office/drawing/2014/main" id="{C1CEBDD1-785E-47A2-838A-5F1222113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76375"/>
            <a:ext cx="942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032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873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68736B"/>
                </a:solidFill>
                <a:latin typeface="Helvetica Neue"/>
                <a:ea typeface="Helvetica Neue"/>
                <a:cs typeface="Helvetica Neue"/>
              </a:rPr>
              <a:t>Electron owns the secure macOS window and external-link policy. React owns the full product experience; browser storage keeps data local.</a:t>
            </a:r>
          </a:p>
        </p:txBody>
      </p:sp>
      <p:sp>
        <p:nvSpPr>
          <p:cNvPr id="5" name="arch-line-1">
            <a:extLst xmlns:a="http://schemas.openxmlformats.org/drawingml/2006/main">
              <a:ext uri="{FF2B5EF4-FFF2-40B4-BE49-F238E27FC236}">
                <a16:creationId xmlns:a16="http://schemas.microsoft.com/office/drawing/2014/main" id="{E377A355-6795-4206-B551-C0902B419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371850"/>
            <a:ext cx="12001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80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arch-line-2">
            <a:extLst xmlns:a="http://schemas.openxmlformats.org/drawingml/2006/main">
              <a:ext uri="{FF2B5EF4-FFF2-40B4-BE49-F238E27FC236}">
                <a16:creationId xmlns:a16="http://schemas.microsoft.com/office/drawing/2014/main" id="{274D50E4-01E0-4E4E-9F61-C05A6CDEA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371850"/>
            <a:ext cx="12001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80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arch-line-3">
            <a:extLst xmlns:a="http://schemas.openxmlformats.org/drawingml/2006/main">
              <a:ext uri="{FF2B5EF4-FFF2-40B4-BE49-F238E27FC236}">
                <a16:creationId xmlns:a16="http://schemas.microsoft.com/office/drawing/2014/main" id="{1E459194-A0D7-4C46-AE67-C4404D04D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371850"/>
            <a:ext cx="12001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80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arch-node-0">
            <a:extLst xmlns:a="http://schemas.openxmlformats.org/drawingml/2006/main">
              <a:ext uri="{FF2B5EF4-FFF2-40B4-BE49-F238E27FC236}">
                <a16:creationId xmlns:a16="http://schemas.microsoft.com/office/drawing/2014/main" id="{D8F26F2E-DF87-49AB-8ED3-E7CE7F94E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0"/>
            <a:ext cx="1695450" cy="21907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2438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arch-title-0">
            <a:extLst xmlns:a="http://schemas.openxmlformats.org/drawingml/2006/main">
              <a:ext uri="{FF2B5EF4-FFF2-40B4-BE49-F238E27FC236}">
                <a16:creationId xmlns:a16="http://schemas.microsoft.com/office/drawing/2014/main" id="{AD1EEA61-2E41-43C8-86BA-34AE85298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19400"/>
            <a:ext cx="1314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2352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Electron main</a:t>
            </a:r>
          </a:p>
        </p:txBody>
      </p:sp>
      <p:sp>
        <p:nvSpPr>
          <p:cNvPr id="10" name="arch-body-0">
            <a:extLst xmlns:a="http://schemas.openxmlformats.org/drawingml/2006/main">
              <a:ext uri="{FF2B5EF4-FFF2-40B4-BE49-F238E27FC236}">
                <a16:creationId xmlns:a16="http://schemas.microsoft.com/office/drawing/2014/main" id="{3E6A95E6-1C43-4794-ABBA-B8450308C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86150"/>
            <a:ext cx="13144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83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9F0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E9F0E8"/>
                </a:solidFill>
                <a:latin typeface="Helvetica Neue"/>
                <a:ea typeface="Helvetica Neue"/>
                <a:cs typeface="Helvetica Neue"/>
              </a:rPr>
              <a:t>BrowserWindow</a:t>
            </a:r>
          </a:p>
          <a:p xmlns:a="http://schemas.openxmlformats.org/drawingml/2006/main">
            <a:pPr algn="l">
              <a:defRPr sz="1200" b="0">
                <a:solidFill>
                  <a:srgbClr val="E9F0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E9F0E8"/>
                </a:solidFill>
                <a:latin typeface="Helvetica Neue"/>
                <a:ea typeface="Helvetica Neue"/>
                <a:cs typeface="Helvetica Neue"/>
              </a:rPr>
              <a:t>contextIsolation: true</a:t>
            </a:r>
          </a:p>
          <a:p xmlns:a="http://schemas.openxmlformats.org/drawingml/2006/main">
            <a:pPr algn="l">
              <a:defRPr sz="1200" b="0">
                <a:solidFill>
                  <a:srgbClr val="E9F0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E9F0E8"/>
                </a:solidFill>
                <a:latin typeface="Helvetica Neue"/>
                <a:ea typeface="Helvetica Neue"/>
                <a:cs typeface="Helvetica Neue"/>
              </a:rPr>
              <a:t>nodeIntegration: false</a:t>
            </a:r>
          </a:p>
        </p:txBody>
      </p:sp>
      <p:sp>
        <p:nvSpPr>
          <p:cNvPr id="11" name="arch-node-1">
            <a:extLst xmlns:a="http://schemas.openxmlformats.org/drawingml/2006/main">
              <a:ext uri="{FF2B5EF4-FFF2-40B4-BE49-F238E27FC236}">
                <a16:creationId xmlns:a16="http://schemas.microsoft.com/office/drawing/2014/main" id="{5954690D-B5B4-4A3D-8B58-BC626A9F2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571750"/>
            <a:ext cx="1695450" cy="21907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EDF4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arch-title-1">
            <a:extLst xmlns:a="http://schemas.openxmlformats.org/drawingml/2006/main">
              <a:ext uri="{FF2B5EF4-FFF2-40B4-BE49-F238E27FC236}">
                <a16:creationId xmlns:a16="http://schemas.microsoft.com/office/drawing/2014/main" id="{D94D9FF6-F8BE-4115-8D84-D8FB38334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819400"/>
            <a:ext cx="1314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778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231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8231C"/>
                </a:solidFill>
                <a:latin typeface="Helvetica Neue"/>
                <a:ea typeface="Helvetica Neue"/>
                <a:cs typeface="Helvetica Neue"/>
              </a:rPr>
              <a:t>Vite renderer</a:t>
            </a:r>
          </a:p>
        </p:txBody>
      </p:sp>
      <p:sp>
        <p:nvSpPr>
          <p:cNvPr id="13" name="arch-body-1">
            <a:extLst xmlns:a="http://schemas.openxmlformats.org/drawingml/2006/main">
              <a:ext uri="{FF2B5EF4-FFF2-40B4-BE49-F238E27FC236}">
                <a16:creationId xmlns:a16="http://schemas.microsoft.com/office/drawing/2014/main" id="{2451413F-09B2-4B42-80DB-184793056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486150"/>
            <a:ext cx="13144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30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873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8736B"/>
                </a:solidFill>
                <a:latin typeface="Helvetica Neue"/>
                <a:ea typeface="Helvetica Neue"/>
                <a:cs typeface="Helvetica Neue"/>
              </a:rPr>
              <a:t>Development server</a:t>
            </a:r>
          </a:p>
          <a:p xmlns:a="http://schemas.openxmlformats.org/drawingml/2006/main">
            <a:pPr algn="l">
              <a:defRPr sz="1200" b="0">
                <a:solidFill>
                  <a:srgbClr val="6873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8736B"/>
                </a:solidFill>
                <a:latin typeface="Helvetica Neue"/>
                <a:ea typeface="Helvetica Neue"/>
                <a:cs typeface="Helvetica Neue"/>
              </a:rPr>
              <a:t>Production bundle</a:t>
            </a:r>
          </a:p>
          <a:p xmlns:a="http://schemas.openxmlformats.org/drawingml/2006/main">
            <a:pPr algn="l">
              <a:defRPr sz="1200" b="0">
                <a:solidFill>
                  <a:srgbClr val="6873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8736B"/>
                </a:solidFill>
                <a:latin typeface="Helvetica Neue"/>
                <a:ea typeface="Helvetica Neue"/>
                <a:cs typeface="Helvetica Neue"/>
              </a:rPr>
              <a:t>Relative asset base</a:t>
            </a:r>
          </a:p>
        </p:txBody>
      </p:sp>
      <p:sp>
        <p:nvSpPr>
          <p:cNvPr id="14" name="arch-node-2">
            <a:extLst xmlns:a="http://schemas.openxmlformats.org/drawingml/2006/main">
              <a:ext uri="{FF2B5EF4-FFF2-40B4-BE49-F238E27FC236}">
                <a16:creationId xmlns:a16="http://schemas.microsoft.com/office/drawing/2014/main" id="{A797355C-B16A-47C5-B99F-B3079070F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571750"/>
            <a:ext cx="1695450" cy="21907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EDF4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arch-title-2">
            <a:extLst xmlns:a="http://schemas.openxmlformats.org/drawingml/2006/main">
              <a:ext uri="{FF2B5EF4-FFF2-40B4-BE49-F238E27FC236}">
                <a16:creationId xmlns:a16="http://schemas.microsoft.com/office/drawing/2014/main" id="{00304FF0-5916-4DCA-A3EC-CF58CA172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819400"/>
            <a:ext cx="1314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939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231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8231C"/>
                </a:solidFill>
                <a:latin typeface="Helvetica Neue"/>
                <a:ea typeface="Helvetica Neue"/>
                <a:cs typeface="Helvetica Neue"/>
              </a:rPr>
              <a:t>React application</a:t>
            </a:r>
          </a:p>
        </p:txBody>
      </p:sp>
      <p:sp>
        <p:nvSpPr>
          <p:cNvPr id="16" name="arch-body-2">
            <a:extLst xmlns:a="http://schemas.openxmlformats.org/drawingml/2006/main">
              <a:ext uri="{FF2B5EF4-FFF2-40B4-BE49-F238E27FC236}">
                <a16:creationId xmlns:a16="http://schemas.microsoft.com/office/drawing/2014/main" id="{76A139F9-3EA0-4A75-B497-04E67F70D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486150"/>
            <a:ext cx="13144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83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873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8736B"/>
                </a:solidFill>
                <a:latin typeface="Helvetica Neue"/>
                <a:ea typeface="Helvetica Neue"/>
                <a:cs typeface="Helvetica Neue"/>
              </a:rPr>
              <a:t>Notes state + actions</a:t>
            </a:r>
          </a:p>
          <a:p xmlns:a="http://schemas.openxmlformats.org/drawingml/2006/main">
            <a:pPr algn="l">
              <a:defRPr sz="1200" b="0">
                <a:solidFill>
                  <a:srgbClr val="6873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8736B"/>
                </a:solidFill>
                <a:latin typeface="Helvetica Neue"/>
                <a:ea typeface="Helvetica Neue"/>
                <a:cs typeface="Helvetica Neue"/>
              </a:rPr>
              <a:t>Responsive UI</a:t>
            </a:r>
          </a:p>
          <a:p xmlns:a="http://schemas.openxmlformats.org/drawingml/2006/main">
            <a:pPr algn="l">
              <a:defRPr sz="1200" b="0">
                <a:solidFill>
                  <a:srgbClr val="6873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8736B"/>
                </a:solidFill>
                <a:latin typeface="Helvetica Neue"/>
                <a:ea typeface="Helvetica Neue"/>
                <a:cs typeface="Helvetica Neue"/>
              </a:rPr>
              <a:t>Markdown edit / preview</a:t>
            </a:r>
          </a:p>
        </p:txBody>
      </p:sp>
      <p:sp>
        <p:nvSpPr>
          <p:cNvPr id="17" name="arch-node-3">
            <a:extLst xmlns:a="http://schemas.openxmlformats.org/drawingml/2006/main">
              <a:ext uri="{FF2B5EF4-FFF2-40B4-BE49-F238E27FC236}">
                <a16:creationId xmlns:a16="http://schemas.microsoft.com/office/drawing/2014/main" id="{31535C51-D930-4AC5-BE8D-055EE1ADB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571750"/>
            <a:ext cx="1695450" cy="21907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2438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arch-title-3">
            <a:extLst xmlns:a="http://schemas.openxmlformats.org/drawingml/2006/main">
              <a:ext uri="{FF2B5EF4-FFF2-40B4-BE49-F238E27FC236}">
                <a16:creationId xmlns:a16="http://schemas.microsoft.com/office/drawing/2014/main" id="{95712145-CE4B-4342-AC8E-6D5AA6D6C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819400"/>
            <a:ext cx="1314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2489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Local storage</a:t>
            </a:r>
          </a:p>
        </p:txBody>
      </p:sp>
      <p:sp>
        <p:nvSpPr>
          <p:cNvPr id="19" name="arch-body-3">
            <a:extLst xmlns:a="http://schemas.openxmlformats.org/drawingml/2006/main">
              <a:ext uri="{FF2B5EF4-FFF2-40B4-BE49-F238E27FC236}">
                <a16:creationId xmlns:a16="http://schemas.microsoft.com/office/drawing/2014/main" id="{AFC6B215-EC2A-4C55-9044-74629CCA3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486150"/>
            <a:ext cx="13144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9F0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E9F0E8"/>
                </a:solidFill>
                <a:latin typeface="Helvetica Neue"/>
                <a:ea typeface="Helvetica Neue"/>
                <a:cs typeface="Helvetica Neue"/>
              </a:rPr>
              <a:t>Notes JSON</a:t>
            </a:r>
          </a:p>
          <a:p xmlns:a="http://schemas.openxmlformats.org/drawingml/2006/main">
            <a:pPr algn="l">
              <a:defRPr sz="1200" b="0">
                <a:solidFill>
                  <a:srgbClr val="E9F0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E9F0E8"/>
                </a:solidFill>
                <a:latin typeface="Helvetica Neue"/>
                <a:ea typeface="Helvetica Neue"/>
                <a:cs typeface="Helvetica Neue"/>
              </a:rPr>
              <a:t>Color depth</a:t>
            </a:r>
          </a:p>
          <a:p xmlns:a="http://schemas.openxmlformats.org/drawingml/2006/main">
            <a:pPr algn="l">
              <a:defRPr sz="1200" b="0">
                <a:solidFill>
                  <a:srgbClr val="E9F0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E9F0E8"/>
                </a:solidFill>
                <a:latin typeface="Helvetica Neue"/>
                <a:ea typeface="Helvetica Neue"/>
                <a:cs typeface="Helvetica Neue"/>
              </a:rPr>
              <a:t>No backend required</a:t>
            </a:r>
          </a:p>
        </p:txBody>
      </p:sp>
      <p:sp>
        <p:nvSpPr>
          <p:cNvPr id="20" name="arch-note">
            <a:extLst xmlns:a="http://schemas.openxmlformats.org/drawingml/2006/main">
              <a:ext uri="{FF2B5EF4-FFF2-40B4-BE49-F238E27FC236}">
                <a16:creationId xmlns:a16="http://schemas.microsoft.com/office/drawing/2014/main" id="{9E32F99E-1E59-4CAB-ABC9-4B8B10C67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91150"/>
            <a:ext cx="952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080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60806A"/>
                </a:solidFill>
                <a:latin typeface="Helvetica Neue"/>
                <a:ea typeface="Helvetica Neue"/>
                <a:cs typeface="Helvetica Neue"/>
              </a:rPr>
              <a:t>External URLs are handed to the system browser; the renderer remains sandboxed and has no Node.js access.</a:t>
            </a:r>
          </a:p>
        </p:txBody>
      </p:sp>
    </p:spTree>
    <p:extLst>
      <p:ext uri="{BB962C8B-B14F-4D97-AF65-F5344CB8AC3E}">
        <p14:creationId xmlns:p14="http://schemas.microsoft.com/office/powerpoint/2010/main" val="68227760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eyebrow-5">
            <a:extLst xmlns:a="http://schemas.openxmlformats.org/drawingml/2006/main">
              <a:ext uri="{FF2B5EF4-FFF2-40B4-BE49-F238E27FC236}">
                <a16:creationId xmlns:a16="http://schemas.microsoft.com/office/drawing/2014/main" id="{427EAF4D-47BA-422B-844D-CB990F100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080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60806A"/>
                </a:solidFill>
                <a:latin typeface="Helvetica Neue"/>
                <a:ea typeface="Helvetica Neue"/>
                <a:cs typeface="Helvetica Neue"/>
              </a:rPr>
              <a:t>TECH STACK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7B12BF36-4A56-4F57-BDB0-30E5CFB6F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8231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18231C"/>
                </a:solidFill>
                <a:latin typeface="Helvetica Neue"/>
                <a:ea typeface="Helvetica Neue"/>
                <a:cs typeface="Helvetica Neue"/>
              </a:rPr>
              <a:t>Each dependency has a narrow, visible job</a:t>
            </a:r>
          </a:p>
        </p:txBody>
      </p:sp>
      <p:sp>
        <p:nvSpPr>
          <p:cNvPr id="3" name="page-5">
            <a:extLst xmlns:a="http://schemas.openxmlformats.org/drawingml/2006/main">
              <a:ext uri="{FF2B5EF4-FFF2-40B4-BE49-F238E27FC236}">
                <a16:creationId xmlns:a16="http://schemas.microsoft.com/office/drawing/2014/main" id="{66182B57-95AC-491E-8F82-58FA80833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873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8736B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4" name="col1">
            <a:extLst xmlns:a="http://schemas.openxmlformats.org/drawingml/2006/main">
              <a:ext uri="{FF2B5EF4-FFF2-40B4-BE49-F238E27FC236}">
                <a16:creationId xmlns:a16="http://schemas.microsoft.com/office/drawing/2014/main" id="{BDF930FC-8198-47AD-B91B-CF2E8C4A7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002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080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60806A"/>
                </a:solidFill>
                <a:latin typeface="Helvetica Neue"/>
                <a:ea typeface="Helvetica Neue"/>
                <a:cs typeface="Helvetica Neue"/>
              </a:rPr>
              <a:t>LAYER</a:t>
            </a:r>
          </a:p>
        </p:txBody>
      </p:sp>
      <p:sp>
        <p:nvSpPr>
          <p:cNvPr id="5" name="col2">
            <a:extLst xmlns:a="http://schemas.openxmlformats.org/drawingml/2006/main">
              <a:ext uri="{FF2B5EF4-FFF2-40B4-BE49-F238E27FC236}">
                <a16:creationId xmlns:a16="http://schemas.microsoft.com/office/drawing/2014/main" id="{FC94646F-3B22-4E18-8049-DBF3A33AD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6002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080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60806A"/>
                </a:solidFill>
                <a:latin typeface="Helvetica Neue"/>
                <a:ea typeface="Helvetica Neue"/>
                <a:cs typeface="Helvetica Neue"/>
              </a:rPr>
              <a:t>TECHNOLOGY</a:t>
            </a:r>
          </a:p>
        </p:txBody>
      </p:sp>
      <p:sp>
        <p:nvSpPr>
          <p:cNvPr id="6" name="col3">
            <a:extLst xmlns:a="http://schemas.openxmlformats.org/drawingml/2006/main">
              <a:ext uri="{FF2B5EF4-FFF2-40B4-BE49-F238E27FC236}">
                <a16:creationId xmlns:a16="http://schemas.microsoft.com/office/drawing/2014/main" id="{767F30DA-0DF7-4925-8C49-72D77CCDD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00200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080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60806A"/>
                </a:solidFill>
                <a:latin typeface="Helvetica Neue"/>
                <a:ea typeface="Helvetica Neue"/>
                <a:cs typeface="Helvetica Neue"/>
              </a:rPr>
              <a:t>ROLE IN THE APPLICATION</a:t>
            </a:r>
          </a:p>
        </p:txBody>
      </p:sp>
      <p:sp>
        <p:nvSpPr>
          <p:cNvPr id="7" name="stack-rule">
            <a:extLst xmlns:a="http://schemas.openxmlformats.org/drawingml/2006/main">
              <a:ext uri="{FF2B5EF4-FFF2-40B4-BE49-F238E27FC236}">
                <a16:creationId xmlns:a16="http://schemas.microsoft.com/office/drawing/2014/main" id="{43B9CE5D-E416-4740-893F-F0B50E7A3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431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3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row-bg-0">
            <a:extLst xmlns:a="http://schemas.openxmlformats.org/drawingml/2006/main">
              <a:ext uri="{FF2B5EF4-FFF2-40B4-BE49-F238E27FC236}">
                <a16:creationId xmlns:a16="http://schemas.microsoft.com/office/drawing/2014/main" id="{3A1740D3-C540-4B16-ACC7-8C9941A66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19300"/>
            <a:ext cx="113919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r0c1">
            <a:extLst xmlns:a="http://schemas.openxmlformats.org/drawingml/2006/main">
              <a:ext uri="{FF2B5EF4-FFF2-40B4-BE49-F238E27FC236}">
                <a16:creationId xmlns:a16="http://schemas.microsoft.com/office/drawing/2014/main" id="{B7C8A6D5-3FD3-49E2-9809-F7411BABB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76450"/>
            <a:ext cx="1952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231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8231C"/>
                </a:solidFill>
                <a:latin typeface="Helvetica Neue"/>
                <a:ea typeface="Helvetica Neue"/>
                <a:cs typeface="Helvetica Neue"/>
              </a:rPr>
              <a:t>Desktop runtime</a:t>
            </a:r>
          </a:p>
        </p:txBody>
      </p:sp>
      <p:sp>
        <p:nvSpPr>
          <p:cNvPr id="10" name="r0c2">
            <a:extLst xmlns:a="http://schemas.openxmlformats.org/drawingml/2006/main">
              <a:ext uri="{FF2B5EF4-FFF2-40B4-BE49-F238E27FC236}">
                <a16:creationId xmlns:a16="http://schemas.microsoft.com/office/drawing/2014/main" id="{F8121DA1-492F-4F7B-A73F-6C7C67E10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076450"/>
            <a:ext cx="335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438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4382A"/>
                </a:solidFill>
                <a:latin typeface="Helvetica Neue"/>
                <a:ea typeface="Helvetica Neue"/>
                <a:cs typeface="Helvetica Neue"/>
              </a:rPr>
              <a:t>Electron</a:t>
            </a:r>
          </a:p>
        </p:txBody>
      </p:sp>
      <p:sp>
        <p:nvSpPr>
          <p:cNvPr id="11" name="r0c3">
            <a:extLst xmlns:a="http://schemas.openxmlformats.org/drawingml/2006/main">
              <a:ext uri="{FF2B5EF4-FFF2-40B4-BE49-F238E27FC236}">
                <a16:creationId xmlns:a16="http://schemas.microsoft.com/office/drawing/2014/main" id="{B3B2F318-C3DB-43E7-B2ED-85787C22F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7645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873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8736B"/>
                </a:solidFill>
                <a:latin typeface="Helvetica Neue"/>
                <a:ea typeface="Helvetica Neue"/>
                <a:cs typeface="Helvetica Neue"/>
              </a:rPr>
              <a:t>Native window lifecycle, sandboxing, external-link handoff</a:t>
            </a:r>
          </a:p>
        </p:txBody>
      </p:sp>
      <p:sp>
        <p:nvSpPr>
          <p:cNvPr id="12" name="r1c1">
            <a:extLst xmlns:a="http://schemas.openxmlformats.org/drawingml/2006/main">
              <a:ext uri="{FF2B5EF4-FFF2-40B4-BE49-F238E27FC236}">
                <a16:creationId xmlns:a16="http://schemas.microsoft.com/office/drawing/2014/main" id="{0C28A30D-AB6F-430E-BC0B-6C2FF7268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38425"/>
            <a:ext cx="1952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231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8231C"/>
                </a:solidFill>
                <a:latin typeface="Helvetica Neue"/>
                <a:ea typeface="Helvetica Neue"/>
                <a:cs typeface="Helvetica Neue"/>
              </a:rPr>
              <a:t>UI layer</a:t>
            </a:r>
          </a:p>
        </p:txBody>
      </p:sp>
      <p:sp>
        <p:nvSpPr>
          <p:cNvPr id="13" name="r1c2">
            <a:extLst xmlns:a="http://schemas.openxmlformats.org/drawingml/2006/main">
              <a:ext uri="{FF2B5EF4-FFF2-40B4-BE49-F238E27FC236}">
                <a16:creationId xmlns:a16="http://schemas.microsoft.com/office/drawing/2014/main" id="{0E34B4A6-4749-49E9-B166-5093A5096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638425"/>
            <a:ext cx="335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438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4382A"/>
                </a:solidFill>
                <a:latin typeface="Helvetica Neue"/>
                <a:ea typeface="Helvetica Neue"/>
                <a:cs typeface="Helvetica Neue"/>
              </a:rPr>
              <a:t>React + React DOM</a:t>
            </a:r>
          </a:p>
        </p:txBody>
      </p:sp>
      <p:sp>
        <p:nvSpPr>
          <p:cNvPr id="14" name="r1c3">
            <a:extLst xmlns:a="http://schemas.openxmlformats.org/drawingml/2006/main">
              <a:ext uri="{FF2B5EF4-FFF2-40B4-BE49-F238E27FC236}">
                <a16:creationId xmlns:a16="http://schemas.microsoft.com/office/drawing/2014/main" id="{B3021110-605B-4415-8593-CC47276AE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38425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873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8736B"/>
                </a:solidFill>
                <a:latin typeface="Helvetica Neue"/>
                <a:ea typeface="Helvetica Neue"/>
                <a:cs typeface="Helvetica Neue"/>
              </a:rPr>
              <a:t>Component state, events, responsive rendering</a:t>
            </a:r>
          </a:p>
        </p:txBody>
      </p:sp>
      <p:sp>
        <p:nvSpPr>
          <p:cNvPr id="15" name="row-bg-2">
            <a:extLst xmlns:a="http://schemas.openxmlformats.org/drawingml/2006/main">
              <a:ext uri="{FF2B5EF4-FFF2-40B4-BE49-F238E27FC236}">
                <a16:creationId xmlns:a16="http://schemas.microsoft.com/office/drawing/2014/main" id="{B4EFEEBC-DFDD-4C00-8E74-0808BC958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43250"/>
            <a:ext cx="113919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r2c1">
            <a:extLst xmlns:a="http://schemas.openxmlformats.org/drawingml/2006/main">
              <a:ext uri="{FF2B5EF4-FFF2-40B4-BE49-F238E27FC236}">
                <a16:creationId xmlns:a16="http://schemas.microsoft.com/office/drawing/2014/main" id="{7530680F-791E-4D24-9EDD-AA968B1A8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00400"/>
            <a:ext cx="1952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231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8231C"/>
                </a:solidFill>
                <a:latin typeface="Helvetica Neue"/>
                <a:ea typeface="Helvetica Neue"/>
                <a:cs typeface="Helvetica Neue"/>
              </a:rPr>
              <a:t>Language</a:t>
            </a:r>
          </a:p>
        </p:txBody>
      </p:sp>
      <p:sp>
        <p:nvSpPr>
          <p:cNvPr id="17" name="r2c2">
            <a:extLst xmlns:a="http://schemas.openxmlformats.org/drawingml/2006/main">
              <a:ext uri="{FF2B5EF4-FFF2-40B4-BE49-F238E27FC236}">
                <a16:creationId xmlns:a16="http://schemas.microsoft.com/office/drawing/2014/main" id="{AC2D3133-C43C-4C5B-83CB-7238950FD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200400"/>
            <a:ext cx="335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438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4382A"/>
                </a:solidFill>
                <a:latin typeface="Helvetica Neue"/>
                <a:ea typeface="Helvetica Neue"/>
                <a:cs typeface="Helvetica Neue"/>
              </a:rPr>
              <a:t>TypeScript</a:t>
            </a:r>
          </a:p>
        </p:txBody>
      </p:sp>
      <p:sp>
        <p:nvSpPr>
          <p:cNvPr id="18" name="r2c3">
            <a:extLst xmlns:a="http://schemas.openxmlformats.org/drawingml/2006/main">
              <a:ext uri="{FF2B5EF4-FFF2-40B4-BE49-F238E27FC236}">
                <a16:creationId xmlns:a16="http://schemas.microsoft.com/office/drawing/2014/main" id="{53B2541E-ED8F-4B6B-830E-8907D3BD2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0040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873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8736B"/>
                </a:solidFill>
                <a:latin typeface="Helvetica Neue"/>
                <a:ea typeface="Helvetica Neue"/>
                <a:cs typeface="Helvetica Neue"/>
              </a:rPr>
              <a:t>Shared Note and ColorDepth contracts; compile-time checks</a:t>
            </a:r>
          </a:p>
        </p:txBody>
      </p:sp>
      <p:sp>
        <p:nvSpPr>
          <p:cNvPr id="19" name="r3c1">
            <a:extLst xmlns:a="http://schemas.openxmlformats.org/drawingml/2006/main">
              <a:ext uri="{FF2B5EF4-FFF2-40B4-BE49-F238E27FC236}">
                <a16:creationId xmlns:a16="http://schemas.microsoft.com/office/drawing/2014/main" id="{E61FCFD5-6C7F-4FB4-BD7C-375E2DB47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62375"/>
            <a:ext cx="1952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231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8231C"/>
                </a:solidFill>
                <a:latin typeface="Helvetica Neue"/>
                <a:ea typeface="Helvetica Neue"/>
                <a:cs typeface="Helvetica Neue"/>
              </a:rPr>
              <a:t>Build system</a:t>
            </a:r>
          </a:p>
        </p:txBody>
      </p:sp>
      <p:sp>
        <p:nvSpPr>
          <p:cNvPr id="20" name="r3c2">
            <a:extLst xmlns:a="http://schemas.openxmlformats.org/drawingml/2006/main">
              <a:ext uri="{FF2B5EF4-FFF2-40B4-BE49-F238E27FC236}">
                <a16:creationId xmlns:a16="http://schemas.microsoft.com/office/drawing/2014/main" id="{9CA8FB2C-09E5-4DCF-B84C-5E6B02B2D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762375"/>
            <a:ext cx="335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438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4382A"/>
                </a:solidFill>
                <a:latin typeface="Helvetica Neue"/>
                <a:ea typeface="Helvetica Neue"/>
                <a:cs typeface="Helvetica Neue"/>
              </a:rPr>
              <a:t>Vite + plugin-react</a:t>
            </a:r>
          </a:p>
        </p:txBody>
      </p:sp>
      <p:sp>
        <p:nvSpPr>
          <p:cNvPr id="21" name="r3c3">
            <a:extLst xmlns:a="http://schemas.openxmlformats.org/drawingml/2006/main">
              <a:ext uri="{FF2B5EF4-FFF2-40B4-BE49-F238E27FC236}">
                <a16:creationId xmlns:a16="http://schemas.microsoft.com/office/drawing/2014/main" id="{45CEF443-E828-42AF-9324-8C375B935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62375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873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8736B"/>
                </a:solidFill>
                <a:latin typeface="Helvetica Neue"/>
                <a:ea typeface="Helvetica Neue"/>
                <a:cs typeface="Helvetica Neue"/>
              </a:rPr>
              <a:t>Fast dev server, renderer bundling, test integration</a:t>
            </a:r>
          </a:p>
        </p:txBody>
      </p:sp>
      <p:sp>
        <p:nvSpPr>
          <p:cNvPr id="22" name="row-bg-4">
            <a:extLst xmlns:a="http://schemas.openxmlformats.org/drawingml/2006/main">
              <a:ext uri="{FF2B5EF4-FFF2-40B4-BE49-F238E27FC236}">
                <a16:creationId xmlns:a16="http://schemas.microsoft.com/office/drawing/2014/main" id="{01112A03-F25F-4F36-87AF-C47EA4449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67200"/>
            <a:ext cx="113919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r4c1">
            <a:extLst xmlns:a="http://schemas.openxmlformats.org/drawingml/2006/main">
              <a:ext uri="{FF2B5EF4-FFF2-40B4-BE49-F238E27FC236}">
                <a16:creationId xmlns:a16="http://schemas.microsoft.com/office/drawing/2014/main" id="{4C735CA5-B0BF-4825-BD06-006F2064E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24350"/>
            <a:ext cx="1952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231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8231C"/>
                </a:solidFill>
                <a:latin typeface="Helvetica Neue"/>
                <a:ea typeface="Helvetica Neue"/>
                <a:cs typeface="Helvetica Neue"/>
              </a:rPr>
              <a:t>Writing</a:t>
            </a:r>
          </a:p>
        </p:txBody>
      </p:sp>
      <p:sp>
        <p:nvSpPr>
          <p:cNvPr id="24" name="r4c2">
            <a:extLst xmlns:a="http://schemas.openxmlformats.org/drawingml/2006/main">
              <a:ext uri="{FF2B5EF4-FFF2-40B4-BE49-F238E27FC236}">
                <a16:creationId xmlns:a16="http://schemas.microsoft.com/office/drawing/2014/main" id="{AD1E1FA1-9C51-402C-8D89-ED620EEA9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324350"/>
            <a:ext cx="335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438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4382A"/>
                </a:solidFill>
                <a:latin typeface="Helvetica Neue"/>
                <a:ea typeface="Helvetica Neue"/>
                <a:cs typeface="Helvetica Neue"/>
              </a:rPr>
              <a:t>react-simple-code-editor + Prism</a:t>
            </a:r>
          </a:p>
        </p:txBody>
      </p:sp>
      <p:sp>
        <p:nvSpPr>
          <p:cNvPr id="25" name="r4c3">
            <a:extLst xmlns:a="http://schemas.openxmlformats.org/drawingml/2006/main">
              <a:ext uri="{FF2B5EF4-FFF2-40B4-BE49-F238E27FC236}">
                <a16:creationId xmlns:a16="http://schemas.microsoft.com/office/drawing/2014/main" id="{C619A03B-63CF-46F9-863C-BDF9C38F2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2435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873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8736B"/>
                </a:solidFill>
                <a:latin typeface="Helvetica Neue"/>
                <a:ea typeface="Helvetica Neue"/>
                <a:cs typeface="Helvetica Neue"/>
              </a:rPr>
              <a:t>Markdown editing with syntax highlighting</a:t>
            </a:r>
          </a:p>
        </p:txBody>
      </p:sp>
      <p:sp>
        <p:nvSpPr>
          <p:cNvPr id="26" name="r5c1">
            <a:extLst xmlns:a="http://schemas.openxmlformats.org/drawingml/2006/main">
              <a:ext uri="{FF2B5EF4-FFF2-40B4-BE49-F238E27FC236}">
                <a16:creationId xmlns:a16="http://schemas.microsoft.com/office/drawing/2014/main" id="{DCA65D20-7D70-4D3F-A623-6955F8042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86325"/>
            <a:ext cx="1952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231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8231C"/>
                </a:solidFill>
                <a:latin typeface="Helvetica Neue"/>
                <a:ea typeface="Helvetica Neue"/>
                <a:cs typeface="Helvetica Neue"/>
              </a:rPr>
              <a:t>Reading</a:t>
            </a:r>
          </a:p>
        </p:txBody>
      </p:sp>
      <p:sp>
        <p:nvSpPr>
          <p:cNvPr id="27" name="r5c2">
            <a:extLst xmlns:a="http://schemas.openxmlformats.org/drawingml/2006/main">
              <a:ext uri="{FF2B5EF4-FFF2-40B4-BE49-F238E27FC236}">
                <a16:creationId xmlns:a16="http://schemas.microsoft.com/office/drawing/2014/main" id="{EAC6246B-29DC-4722-BA22-E54638347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886325"/>
            <a:ext cx="335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438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4382A"/>
                </a:solidFill>
                <a:latin typeface="Helvetica Neue"/>
                <a:ea typeface="Helvetica Neue"/>
                <a:cs typeface="Helvetica Neue"/>
              </a:rPr>
              <a:t>react-markdown + remark-gfm</a:t>
            </a:r>
          </a:p>
        </p:txBody>
      </p:sp>
      <p:sp>
        <p:nvSpPr>
          <p:cNvPr id="28" name="r5c3">
            <a:extLst xmlns:a="http://schemas.openxmlformats.org/drawingml/2006/main">
              <a:ext uri="{FF2B5EF4-FFF2-40B4-BE49-F238E27FC236}">
                <a16:creationId xmlns:a16="http://schemas.microsoft.com/office/drawing/2014/main" id="{64C506C1-90D0-4644-B271-A039FDCA9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886325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873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8736B"/>
                </a:solidFill>
                <a:latin typeface="Helvetica Neue"/>
                <a:ea typeface="Helvetica Neue"/>
                <a:cs typeface="Helvetica Neue"/>
              </a:rPr>
              <a:t>Safe rendered preview with GFM support</a:t>
            </a:r>
          </a:p>
        </p:txBody>
      </p:sp>
      <p:sp>
        <p:nvSpPr>
          <p:cNvPr id="29" name="row-bg-6">
            <a:extLst xmlns:a="http://schemas.openxmlformats.org/drawingml/2006/main">
              <a:ext uri="{FF2B5EF4-FFF2-40B4-BE49-F238E27FC236}">
                <a16:creationId xmlns:a16="http://schemas.microsoft.com/office/drawing/2014/main" id="{C9FCBD00-08E8-4DDE-98BB-71E48198D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91150"/>
            <a:ext cx="113919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r6c1">
            <a:extLst xmlns:a="http://schemas.openxmlformats.org/drawingml/2006/main">
              <a:ext uri="{FF2B5EF4-FFF2-40B4-BE49-F238E27FC236}">
                <a16:creationId xmlns:a16="http://schemas.microsoft.com/office/drawing/2014/main" id="{16A6B7F0-674B-49F2-8EF8-10707AADA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48300"/>
            <a:ext cx="1952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231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8231C"/>
                </a:solidFill>
                <a:latin typeface="Helvetica Neue"/>
                <a:ea typeface="Helvetica Neue"/>
                <a:cs typeface="Helvetica Neue"/>
              </a:rPr>
              <a:t>Quality</a:t>
            </a:r>
          </a:p>
        </p:txBody>
      </p:sp>
      <p:sp>
        <p:nvSpPr>
          <p:cNvPr id="31" name="r6c2">
            <a:extLst xmlns:a="http://schemas.openxmlformats.org/drawingml/2006/main">
              <a:ext uri="{FF2B5EF4-FFF2-40B4-BE49-F238E27FC236}">
                <a16:creationId xmlns:a16="http://schemas.microsoft.com/office/drawing/2014/main" id="{D27BD406-C122-48E8-B535-416B0FD57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448300"/>
            <a:ext cx="335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438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4382A"/>
                </a:solidFill>
                <a:latin typeface="Helvetica Neue"/>
                <a:ea typeface="Helvetica Neue"/>
                <a:cs typeface="Helvetica Neue"/>
              </a:rPr>
              <a:t>Vitest + Testing Library + jsdom</a:t>
            </a:r>
          </a:p>
        </p:txBody>
      </p:sp>
      <p:sp>
        <p:nvSpPr>
          <p:cNvPr id="32" name="r6c3">
            <a:extLst xmlns:a="http://schemas.openxmlformats.org/drawingml/2006/main">
              <a:ext uri="{FF2B5EF4-FFF2-40B4-BE49-F238E27FC236}">
                <a16:creationId xmlns:a16="http://schemas.microsoft.com/office/drawing/2014/main" id="{C8414764-66D9-4408-B2E3-A2592A9D2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44830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873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8736B"/>
                </a:solidFill>
                <a:latin typeface="Helvetica Neue"/>
                <a:ea typeface="Helvetica Neue"/>
                <a:cs typeface="Helvetica Neue"/>
              </a:rPr>
              <a:t>Unit, component, keyboard, and persistence behavior</a:t>
            </a:r>
          </a:p>
        </p:txBody>
      </p:sp>
    </p:spTree>
    <p:extLst>
      <p:ext uri="{BB962C8B-B14F-4D97-AF65-F5344CB8AC3E}">
        <p14:creationId xmlns:p14="http://schemas.microsoft.com/office/powerpoint/2010/main" val="146669513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eyebrow-6">
            <a:extLst xmlns:a="http://schemas.openxmlformats.org/drawingml/2006/main">
              <a:ext uri="{FF2B5EF4-FFF2-40B4-BE49-F238E27FC236}">
                <a16:creationId xmlns:a16="http://schemas.microsoft.com/office/drawing/2014/main" id="{21B9A011-C052-4B92-8D8C-8A7C73FBA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080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60806A"/>
                </a:solidFill>
                <a:latin typeface="Helvetica Neue"/>
                <a:ea typeface="Helvetica Neue"/>
                <a:cs typeface="Helvetica Neue"/>
              </a:rPr>
              <a:t>QUALITY AND OPERATIONS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A558BD0D-373D-45D6-A924-2291531B7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8231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18231C"/>
                </a:solidFill>
                <a:latin typeface="Helvetica Neue"/>
                <a:ea typeface="Helvetica Neue"/>
                <a:cs typeface="Helvetica Neue"/>
              </a:rPr>
              <a:t>Small surface area, meaningful guardrails</a:t>
            </a:r>
          </a:p>
        </p:txBody>
      </p:sp>
      <p:sp>
        <p:nvSpPr>
          <p:cNvPr id="3" name="page-6">
            <a:extLst xmlns:a="http://schemas.openxmlformats.org/drawingml/2006/main">
              <a:ext uri="{FF2B5EF4-FFF2-40B4-BE49-F238E27FC236}">
                <a16:creationId xmlns:a16="http://schemas.microsoft.com/office/drawing/2014/main" id="{BDE89D3D-7060-4DF7-B114-3924D33F6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873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8736B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4" name="quality-lead">
            <a:extLst xmlns:a="http://schemas.openxmlformats.org/drawingml/2006/main">
              <a:ext uri="{FF2B5EF4-FFF2-40B4-BE49-F238E27FC236}">
                <a16:creationId xmlns:a16="http://schemas.microsoft.com/office/drawing/2014/main" id="{E28E0A08-B3BD-494A-A73F-CD771798D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76375"/>
            <a:ext cx="9144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873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68736B"/>
                </a:solidFill>
                <a:latin typeface="Helvetica Neue"/>
                <a:ea typeface="Helvetica Neue"/>
                <a:cs typeface="Helvetica Neue"/>
              </a:rPr>
              <a:t>The current implementation favors predictable local behavior over infrastructure. The automated checks cover the domain helpers and the main interaction path.</a:t>
            </a:r>
          </a:p>
        </p:txBody>
      </p:sp>
      <p:sp>
        <p:nvSpPr>
          <p:cNvPr id="5" name="metric-0">
            <a:extLst xmlns:a="http://schemas.openxmlformats.org/drawingml/2006/main">
              <a:ext uri="{FF2B5EF4-FFF2-40B4-BE49-F238E27FC236}">
                <a16:creationId xmlns:a16="http://schemas.microsoft.com/office/drawing/2014/main" id="{B226E83E-AF8B-49EB-96AF-4B4057705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0"/>
            <a:ext cx="3505200" cy="188595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DF4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metric-v-0">
            <a:extLst xmlns:a="http://schemas.openxmlformats.org/drawingml/2006/main">
              <a:ext uri="{FF2B5EF4-FFF2-40B4-BE49-F238E27FC236}">
                <a16:creationId xmlns:a16="http://schemas.microsoft.com/office/drawing/2014/main" id="{777DE161-40F8-495F-BC5C-3642EA830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62250"/>
            <a:ext cx="1714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8231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18231C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7" name="metric-l-0">
            <a:extLst xmlns:a="http://schemas.openxmlformats.org/drawingml/2006/main">
              <a:ext uri="{FF2B5EF4-FFF2-40B4-BE49-F238E27FC236}">
                <a16:creationId xmlns:a16="http://schemas.microsoft.com/office/drawing/2014/main" id="{0872A9DC-C275-40FC-B58D-671B4B871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38550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873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68736B"/>
                </a:solidFill>
                <a:latin typeface="Helvetica Neue"/>
                <a:ea typeface="Helvetica Neue"/>
                <a:cs typeface="Helvetica Neue"/>
              </a:rPr>
              <a:t>passing tests</a:t>
            </a:r>
          </a:p>
        </p:txBody>
      </p:sp>
      <p:sp>
        <p:nvSpPr>
          <p:cNvPr id="8" name="metric-1">
            <a:extLst xmlns:a="http://schemas.openxmlformats.org/drawingml/2006/main">
              <a:ext uri="{FF2B5EF4-FFF2-40B4-BE49-F238E27FC236}">
                <a16:creationId xmlns:a16="http://schemas.microsoft.com/office/drawing/2014/main" id="{54D6E4A2-6CC7-4396-8314-8EE945BFD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476500"/>
            <a:ext cx="3505200" cy="188595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DF4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metric-v-1">
            <a:extLst xmlns:a="http://schemas.openxmlformats.org/drawingml/2006/main">
              <a:ext uri="{FF2B5EF4-FFF2-40B4-BE49-F238E27FC236}">
                <a16:creationId xmlns:a16="http://schemas.microsoft.com/office/drawing/2014/main" id="{B530C0DB-BB1D-4BBF-8E6B-6BF03A837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762250"/>
            <a:ext cx="1714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8231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18231C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0" name="metric-l-1">
            <a:extLst xmlns:a="http://schemas.openxmlformats.org/drawingml/2006/main">
              <a:ext uri="{FF2B5EF4-FFF2-40B4-BE49-F238E27FC236}">
                <a16:creationId xmlns:a16="http://schemas.microsoft.com/office/drawing/2014/main" id="{EF2FFE05-D975-4021-B6D7-A315A2257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638550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873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68736B"/>
                </a:solidFill>
                <a:latin typeface="Helvetica Neue"/>
                <a:ea typeface="Helvetica Neue"/>
                <a:cs typeface="Helvetica Neue"/>
              </a:rPr>
              <a:t>test files</a:t>
            </a:r>
          </a:p>
        </p:txBody>
      </p:sp>
      <p:sp>
        <p:nvSpPr>
          <p:cNvPr id="11" name="metric-2">
            <a:extLst xmlns:a="http://schemas.openxmlformats.org/drawingml/2006/main">
              <a:ext uri="{FF2B5EF4-FFF2-40B4-BE49-F238E27FC236}">
                <a16:creationId xmlns:a16="http://schemas.microsoft.com/office/drawing/2014/main" id="{1E650D5E-D232-40E3-9E40-E609839B5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476500"/>
            <a:ext cx="3505200" cy="188595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2438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metric-v-2">
            <a:extLst xmlns:a="http://schemas.openxmlformats.org/drawingml/2006/main">
              <a:ext uri="{FF2B5EF4-FFF2-40B4-BE49-F238E27FC236}">
                <a16:creationId xmlns:a16="http://schemas.microsoft.com/office/drawing/2014/main" id="{D3CC113B-B0CA-45D7-A14A-C0A2970B8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762250"/>
            <a:ext cx="1714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</a:t>
            </a:r>
          </a:p>
        </p:txBody>
      </p:sp>
      <p:sp>
        <p:nvSpPr>
          <p:cNvPr id="13" name="metric-l-2">
            <a:extLst xmlns:a="http://schemas.openxmlformats.org/drawingml/2006/main">
              <a:ext uri="{FF2B5EF4-FFF2-40B4-BE49-F238E27FC236}">
                <a16:creationId xmlns:a16="http://schemas.microsoft.com/office/drawing/2014/main" id="{FA95DE1B-9DF3-43C0-979E-AA589D92C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638550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9F0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E9F0E8"/>
                </a:solidFill>
                <a:latin typeface="Helvetica Neue"/>
                <a:ea typeface="Helvetica Neue"/>
                <a:cs typeface="Helvetica Neue"/>
              </a:rPr>
              <a:t>runtime services</a:t>
            </a:r>
          </a:p>
        </p:txBody>
      </p:sp>
      <p:sp>
        <p:nvSpPr>
          <p:cNvPr id="14" name="quality-checks">
            <a:extLst xmlns:a="http://schemas.openxmlformats.org/drawingml/2006/main">
              <a:ext uri="{FF2B5EF4-FFF2-40B4-BE49-F238E27FC236}">
                <a16:creationId xmlns:a16="http://schemas.microsoft.com/office/drawing/2014/main" id="{8BA44251-BD9C-4DEB-926D-82E6A40A7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815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31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8231C"/>
                </a:solidFill>
                <a:latin typeface="Helvetica Neue"/>
                <a:ea typeface="Helvetica Neue"/>
                <a:cs typeface="Helvetica Neue"/>
              </a:rPr>
              <a:t>Verified in this workspace</a:t>
            </a:r>
          </a:p>
        </p:txBody>
      </p:sp>
      <p:sp>
        <p:nvSpPr>
          <p:cNvPr id="15" name="quality-list">
            <a:extLst xmlns:a="http://schemas.openxmlformats.org/drawingml/2006/main">
              <a:ext uri="{FF2B5EF4-FFF2-40B4-BE49-F238E27FC236}">
                <a16:creationId xmlns:a16="http://schemas.microsoft.com/office/drawing/2014/main" id="{AE8F87DB-92AE-41BC-BF57-E9C5BA780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81600"/>
            <a:ext cx="9810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73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8736B"/>
                </a:solidFill>
                <a:latin typeface="Helvetica Neue"/>
                <a:ea typeface="Helvetica Neue"/>
                <a:cs typeface="Helvetica Neue"/>
              </a:rPr>
              <a:t>✓  Vitest suite passes</a:t>
            </a:r>
          </a:p>
          <a:p xmlns:a="http://schemas.openxmlformats.org/drawingml/2006/main">
            <a:pPr algn="l">
              <a:defRPr sz="1350" b="0">
                <a:solidFill>
                  <a:srgbClr val="6873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8736B"/>
                </a:solidFill>
                <a:latin typeface="Helvetica Neue"/>
                <a:ea typeface="Helvetica Neue"/>
                <a:cs typeface="Helvetica Neue"/>
              </a:rPr>
              <a:t>✓  TypeScript project references compile cleanly</a:t>
            </a:r>
          </a:p>
          <a:p xmlns:a="http://schemas.openxmlformats.org/drawingml/2006/main">
            <a:pPr algn="l">
              <a:defRPr sz="1350" b="0">
                <a:solidFill>
                  <a:srgbClr val="6873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8736B"/>
                </a:solidFill>
                <a:latin typeface="Helvetica Neue"/>
                <a:ea typeface="Helvetica Neue"/>
                <a:cs typeface="Helvetica Neue"/>
              </a:rPr>
              <a:t>✓  Secure Electron defaults are explicit</a:t>
            </a:r>
          </a:p>
          <a:p xmlns:a="http://schemas.openxmlformats.org/drawingml/2006/main">
            <a:pPr algn="l">
              <a:defRPr sz="1350" b="0">
                <a:solidFill>
                  <a:srgbClr val="6873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8736B"/>
                </a:solidFill>
                <a:latin typeface="Helvetica Neue"/>
                <a:ea typeface="Helvetica Neue"/>
                <a:cs typeface="Helvetica Neue"/>
              </a:rPr>
              <a:t>✓  Production renderer and main process have separate outputs</a:t>
            </a:r>
          </a:p>
        </p:txBody>
      </p:sp>
    </p:spTree>
    <p:extLst>
      <p:ext uri="{BB962C8B-B14F-4D97-AF65-F5344CB8AC3E}">
        <p14:creationId xmlns:p14="http://schemas.microsoft.com/office/powerpoint/2010/main" val="88985957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2438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close-kicker">
            <a:extLst xmlns:a="http://schemas.openxmlformats.org/drawingml/2006/main">
              <a:ext uri="{FF2B5EF4-FFF2-40B4-BE49-F238E27FC236}">
                <a16:creationId xmlns:a16="http://schemas.microsoft.com/office/drawing/2014/main" id="{642D1E99-13A2-4611-820A-CC269C24D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FC5B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AFC5B4"/>
                </a:solidFill>
                <a:latin typeface="Helvetica Neue"/>
                <a:ea typeface="Helvetica Neue"/>
                <a:cs typeface="Helvetica Neue"/>
              </a:rPr>
              <a:t>TONY NOTES</a:t>
            </a:r>
          </a:p>
        </p:txBody>
      </p:sp>
      <p:sp>
        <p:nvSpPr>
          <p:cNvPr id="2" name="close-title">
            <a:extLst xmlns:a="http://schemas.openxmlformats.org/drawingml/2006/main">
              <a:ext uri="{FF2B5EF4-FFF2-40B4-BE49-F238E27FC236}">
                <a16:creationId xmlns:a16="http://schemas.microsoft.com/office/drawing/2014/main" id="{079E66F6-CF30-46AC-B391-71565643F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8858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 complete desktop notes app—without a backend</a:t>
            </a:r>
          </a:p>
        </p:txBody>
      </p:sp>
      <p:sp>
        <p:nvSpPr>
          <p:cNvPr id="3" name="close-body">
            <a:extLst xmlns:a="http://schemas.openxmlformats.org/drawingml/2006/main">
              <a:ext uri="{FF2B5EF4-FFF2-40B4-BE49-F238E27FC236}">
                <a16:creationId xmlns:a16="http://schemas.microsoft.com/office/drawing/2014/main" id="{1910D426-5A19-4262-8ABE-4BF20DE07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57600"/>
            <a:ext cx="809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DE7D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DDE7DE"/>
                </a:solidFill>
                <a:latin typeface="Helvetica Neue"/>
                <a:ea typeface="Helvetica Neue"/>
                <a:cs typeface="Helvetica Neue"/>
              </a:rPr>
              <a:t>The architecture stays understandable: Electron secures the shell, React delivers the experience, TypeScript connects the layers, and local storage keeps the product private by default.</a:t>
            </a:r>
          </a:p>
        </p:txBody>
      </p:sp>
      <p:sp>
        <p:nvSpPr>
          <p:cNvPr id="4" name="close-command">
            <a:extLst xmlns:a="http://schemas.openxmlformats.org/drawingml/2006/main">
              <a:ext uri="{FF2B5EF4-FFF2-40B4-BE49-F238E27FC236}">
                <a16:creationId xmlns:a16="http://schemas.microsoft.com/office/drawing/2014/main" id="{7AABA57F-F4EF-4A52-9D01-54BC7694C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19700"/>
            <a:ext cx="59055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7231B"/>
          </a:solidFill>
          <a:ln xmlns:a="http://schemas.openxmlformats.org/drawingml/2006/main" w="9525">
            <a:solidFill>
              <a:srgbClr val="54705C"/>
            </a:solidFill>
            <a:prstDash val="solid"/>
          </a:ln>
        </p:spPr>
      </p:sp>
      <p:sp>
        <p:nvSpPr>
          <p:cNvPr id="5" name="close-command-text">
            <a:extLst xmlns:a="http://schemas.openxmlformats.org/drawingml/2006/main">
              <a:ext uri="{FF2B5EF4-FFF2-40B4-BE49-F238E27FC236}">
                <a16:creationId xmlns:a16="http://schemas.microsoft.com/office/drawing/2014/main" id="{FAD92A67-EBE9-46CA-9019-E164FF0A8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29250"/>
            <a:ext cx="5391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DF4E2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>
                <a:solidFill>
                  <a:srgbClr val="DDF4E2"/>
                </a:solidFill>
                <a:latin typeface="Courier New"/>
                <a:ea typeface="Courier New"/>
                <a:cs typeface="Courier New"/>
              </a:rPr>
              <a:t>npm install   →   npm run dev</a:t>
            </a:r>
          </a:p>
        </p:txBody>
      </p:sp>
      <p:sp>
        <p:nvSpPr>
          <p:cNvPr id="6" name="close-footer">
            <a:extLst xmlns:a="http://schemas.openxmlformats.org/drawingml/2006/main">
              <a:ext uri="{FF2B5EF4-FFF2-40B4-BE49-F238E27FC236}">
                <a16:creationId xmlns:a16="http://schemas.microsoft.com/office/drawing/2014/main" id="{E8EC8899-E58D-4F61-9CA8-61A0C027C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6343650"/>
            <a:ext cx="2819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FC5B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AFC5B4"/>
                </a:solidFill>
                <a:latin typeface="Helvetica Neue"/>
                <a:ea typeface="Helvetica Neue"/>
                <a:cs typeface="Helvetica Neue"/>
              </a:rPr>
              <a:t>Application overview • July 2026</a:t>
            </a:r>
          </a:p>
        </p:txBody>
      </p:sp>
    </p:spTree>
    <p:extLst>
      <p:ext uri="{BB962C8B-B14F-4D97-AF65-F5344CB8AC3E}">
        <p14:creationId xmlns:p14="http://schemas.microsoft.com/office/powerpoint/2010/main" val="28473844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2026-07-21T18:47:51.9740000Z</dcterms:created>
  <dcterms:modified xsi:type="dcterms:W3CDTF">2026-07-21T18:47:51.9740000Z</dcterms:modified>
</coreProperties>
</file>